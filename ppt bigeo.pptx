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5" r:id="rId9"/>
    <p:sldId id="263" r:id="rId10"/>
    <p:sldId id="264" r:id="rId11"/>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5" d="100"/>
          <a:sy n="55" d="100"/>
        </p:scale>
        <p:origin x="658"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371600" y="3188970"/>
            <a:ext cx="15544800" cy="216027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4000" b="0" i="0">
                <a:solidFill>
                  <a:srgbClr val="1B1F34"/>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Verdana"/>
                <a:cs typeface="Verdana"/>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438052" y="4732273"/>
            <a:ext cx="3411895" cy="778510"/>
          </a:xfrm>
          <a:prstGeom prst="rect">
            <a:avLst/>
          </a:prstGeom>
        </p:spPr>
        <p:txBody>
          <a:bodyPr wrap="square" lIns="0" tIns="0" rIns="0" bIns="0">
            <a:spAutoFit/>
          </a:bodyPr>
          <a:lstStyle>
            <a:lvl1pPr>
              <a:defRPr sz="4900" b="1" i="0">
                <a:solidFill>
                  <a:schemeClr val="tx1"/>
                </a:solidFill>
                <a:latin typeface="Verdana"/>
                <a:cs typeface="Verdana"/>
              </a:defRPr>
            </a:lvl1pPr>
          </a:lstStyle>
          <a:p>
            <a:endParaRPr/>
          </a:p>
        </p:txBody>
      </p:sp>
      <p:sp>
        <p:nvSpPr>
          <p:cNvPr id="3" name="Holder 3"/>
          <p:cNvSpPr>
            <a:spLocks noGrp="1"/>
          </p:cNvSpPr>
          <p:nvPr>
            <p:ph type="body" idx="1"/>
          </p:nvPr>
        </p:nvSpPr>
        <p:spPr>
          <a:xfrm>
            <a:off x="410944" y="2569570"/>
            <a:ext cx="17466111" cy="6521450"/>
          </a:xfrm>
          <a:prstGeom prst="rect">
            <a:avLst/>
          </a:prstGeom>
        </p:spPr>
        <p:txBody>
          <a:bodyPr wrap="square" lIns="0" tIns="0" rIns="0" bIns="0">
            <a:spAutoFit/>
          </a:bodyPr>
          <a:lstStyle>
            <a:lvl1pPr>
              <a:defRPr sz="4000" b="0" i="0">
                <a:solidFill>
                  <a:srgbClr val="1B1F34"/>
                </a:solidFill>
                <a:latin typeface="Verdana"/>
                <a:cs typeface="Verdana"/>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9/9/2024</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144001" y="521419"/>
            <a:ext cx="7924800" cy="7289081"/>
          </a:xfrm>
          <a:prstGeom prst="rect">
            <a:avLst/>
          </a:prstGeom>
        </p:spPr>
      </p:pic>
      <p:sp>
        <p:nvSpPr>
          <p:cNvPr id="3" name="object 3"/>
          <p:cNvSpPr txBox="1">
            <a:spLocks noGrp="1"/>
          </p:cNvSpPr>
          <p:nvPr>
            <p:ph type="title"/>
          </p:nvPr>
        </p:nvSpPr>
        <p:spPr>
          <a:xfrm>
            <a:off x="483234" y="76100"/>
            <a:ext cx="8237855" cy="4171315"/>
          </a:xfrm>
          <a:prstGeom prst="rect">
            <a:avLst/>
          </a:prstGeom>
        </p:spPr>
        <p:txBody>
          <a:bodyPr vert="horz" wrap="square" lIns="0" tIns="566420" rIns="0" bIns="0" rtlCol="0">
            <a:spAutoFit/>
          </a:bodyPr>
          <a:lstStyle/>
          <a:p>
            <a:pPr marR="1696720" algn="ctr">
              <a:lnSpc>
                <a:spcPct val="100000"/>
              </a:lnSpc>
              <a:spcBef>
                <a:spcPts val="4460"/>
              </a:spcBef>
            </a:pPr>
            <a:r>
              <a:rPr sz="11300" u="sng" spc="5" dirty="0">
                <a:solidFill>
                  <a:srgbClr val="081A9A"/>
                </a:solidFill>
                <a:latin typeface="Tahoma"/>
                <a:cs typeface="Tahoma"/>
              </a:rPr>
              <a:t>BiGeo</a:t>
            </a:r>
            <a:endParaRPr sz="11300" u="sng" dirty="0">
              <a:latin typeface="Tahoma"/>
              <a:cs typeface="Tahoma"/>
            </a:endParaRPr>
          </a:p>
          <a:p>
            <a:pPr marL="1772285" marR="5080" indent="-1760220">
              <a:lnSpc>
                <a:spcPct val="117300"/>
              </a:lnSpc>
              <a:spcBef>
                <a:spcPts val="915"/>
              </a:spcBef>
            </a:pPr>
            <a:r>
              <a:rPr u="sng" spc="-35" dirty="0">
                <a:solidFill>
                  <a:srgbClr val="1B1F34"/>
                </a:solidFill>
                <a:latin typeface="Tahoma"/>
                <a:cs typeface="Tahoma"/>
              </a:rPr>
              <a:t>Logistics</a:t>
            </a:r>
            <a:r>
              <a:rPr u="sng" spc="-290" dirty="0">
                <a:solidFill>
                  <a:srgbClr val="1B1F34"/>
                </a:solidFill>
                <a:latin typeface="Tahoma"/>
                <a:cs typeface="Tahoma"/>
              </a:rPr>
              <a:t> </a:t>
            </a:r>
            <a:r>
              <a:rPr u="sng" spc="-20" dirty="0">
                <a:solidFill>
                  <a:srgbClr val="1B1F34"/>
                </a:solidFill>
                <a:latin typeface="Tahoma"/>
                <a:cs typeface="Tahoma"/>
              </a:rPr>
              <a:t>and</a:t>
            </a:r>
            <a:r>
              <a:rPr u="sng" spc="-285" dirty="0">
                <a:solidFill>
                  <a:srgbClr val="1B1F34"/>
                </a:solidFill>
                <a:latin typeface="Tahoma"/>
                <a:cs typeface="Tahoma"/>
              </a:rPr>
              <a:t> </a:t>
            </a:r>
            <a:r>
              <a:rPr u="sng" spc="20" dirty="0">
                <a:solidFill>
                  <a:srgbClr val="1B1F34"/>
                </a:solidFill>
                <a:latin typeface="Tahoma"/>
                <a:cs typeface="Tahoma"/>
              </a:rPr>
              <a:t>Supply</a:t>
            </a:r>
            <a:r>
              <a:rPr u="sng" spc="-290" dirty="0">
                <a:solidFill>
                  <a:srgbClr val="1B1F34"/>
                </a:solidFill>
                <a:latin typeface="Tahoma"/>
                <a:cs typeface="Tahoma"/>
              </a:rPr>
              <a:t> </a:t>
            </a:r>
            <a:r>
              <a:rPr u="sng" spc="-15" dirty="0">
                <a:solidFill>
                  <a:srgbClr val="1B1F34"/>
                </a:solidFill>
                <a:latin typeface="Tahoma"/>
                <a:cs typeface="Tahoma"/>
              </a:rPr>
              <a:t>Chain </a:t>
            </a:r>
            <a:r>
              <a:rPr u="sng" spc="-1420" dirty="0">
                <a:solidFill>
                  <a:srgbClr val="1B1F34"/>
                </a:solidFill>
                <a:latin typeface="Tahoma"/>
                <a:cs typeface="Tahoma"/>
              </a:rPr>
              <a:t> </a:t>
            </a:r>
            <a:r>
              <a:rPr u="sng" spc="-70" dirty="0">
                <a:solidFill>
                  <a:srgbClr val="1B1F34"/>
                </a:solidFill>
                <a:latin typeface="Tahoma"/>
                <a:cs typeface="Tahoma"/>
              </a:rPr>
              <a:t>u</a:t>
            </a:r>
            <a:r>
              <a:rPr u="sng" spc="-75" dirty="0">
                <a:solidFill>
                  <a:srgbClr val="1B1F34"/>
                </a:solidFill>
                <a:latin typeface="Tahoma"/>
                <a:cs typeface="Tahoma"/>
              </a:rPr>
              <a:t>s</a:t>
            </a:r>
            <a:r>
              <a:rPr u="sng" spc="-55" dirty="0">
                <a:solidFill>
                  <a:srgbClr val="1B1F34"/>
                </a:solidFill>
                <a:latin typeface="Tahoma"/>
                <a:cs typeface="Tahoma"/>
              </a:rPr>
              <a:t>i</a:t>
            </a:r>
            <a:r>
              <a:rPr u="sng" spc="-30" dirty="0">
                <a:solidFill>
                  <a:srgbClr val="1B1F34"/>
                </a:solidFill>
                <a:latin typeface="Tahoma"/>
                <a:cs typeface="Tahoma"/>
              </a:rPr>
              <a:t>n</a:t>
            </a:r>
            <a:r>
              <a:rPr u="sng" spc="-320" dirty="0">
                <a:solidFill>
                  <a:srgbClr val="1B1F34"/>
                </a:solidFill>
                <a:latin typeface="Tahoma"/>
                <a:cs typeface="Tahoma"/>
              </a:rPr>
              <a:t>g</a:t>
            </a:r>
            <a:r>
              <a:rPr u="sng" spc="-275" dirty="0">
                <a:solidFill>
                  <a:srgbClr val="1B1F34"/>
                </a:solidFill>
                <a:latin typeface="Tahoma"/>
                <a:cs typeface="Tahoma"/>
              </a:rPr>
              <a:t> </a:t>
            </a:r>
            <a:r>
              <a:rPr u="sng" spc="75" dirty="0">
                <a:solidFill>
                  <a:srgbClr val="1B1F34"/>
                </a:solidFill>
                <a:latin typeface="Tahoma"/>
                <a:cs typeface="Tahoma"/>
              </a:rPr>
              <a:t>A</a:t>
            </a:r>
            <a:r>
              <a:rPr u="sng" spc="-755" dirty="0">
                <a:solidFill>
                  <a:srgbClr val="1B1F34"/>
                </a:solidFill>
                <a:latin typeface="Tahoma"/>
                <a:cs typeface="Tahoma"/>
              </a:rPr>
              <a:t>I</a:t>
            </a:r>
            <a:r>
              <a:rPr u="sng" spc="-275" dirty="0">
                <a:solidFill>
                  <a:srgbClr val="1B1F34"/>
                </a:solidFill>
                <a:latin typeface="Tahoma"/>
                <a:cs typeface="Tahoma"/>
              </a:rPr>
              <a:t> </a:t>
            </a:r>
            <a:r>
              <a:rPr u="sng" spc="-135" dirty="0">
                <a:solidFill>
                  <a:srgbClr val="1B1F34"/>
                </a:solidFill>
                <a:latin typeface="Tahoma"/>
                <a:cs typeface="Tahoma"/>
              </a:rPr>
              <a:t>a</a:t>
            </a:r>
            <a:r>
              <a:rPr u="sng" spc="-30" dirty="0">
                <a:solidFill>
                  <a:srgbClr val="1B1F34"/>
                </a:solidFill>
                <a:latin typeface="Tahoma"/>
                <a:cs typeface="Tahoma"/>
              </a:rPr>
              <a:t>n</a:t>
            </a:r>
            <a:r>
              <a:rPr u="sng" spc="100" dirty="0">
                <a:solidFill>
                  <a:srgbClr val="1B1F34"/>
                </a:solidFill>
                <a:latin typeface="Tahoma"/>
                <a:cs typeface="Tahoma"/>
              </a:rPr>
              <a:t>d</a:t>
            </a:r>
            <a:r>
              <a:rPr u="sng" spc="-275" dirty="0">
                <a:solidFill>
                  <a:srgbClr val="1B1F34"/>
                </a:solidFill>
                <a:latin typeface="Tahoma"/>
                <a:cs typeface="Tahoma"/>
              </a:rPr>
              <a:t> </a:t>
            </a:r>
            <a:r>
              <a:rPr u="sng" spc="-760" dirty="0" smtClean="0">
                <a:solidFill>
                  <a:srgbClr val="1B1F34"/>
                </a:solidFill>
                <a:latin typeface="Tahoma"/>
                <a:cs typeface="Tahoma"/>
              </a:rPr>
              <a:t>I</a:t>
            </a:r>
            <a:r>
              <a:rPr lang="en-US" u="sng" spc="-760" dirty="0" smtClean="0">
                <a:solidFill>
                  <a:srgbClr val="1B1F34"/>
                </a:solidFill>
                <a:latin typeface="Tahoma"/>
                <a:cs typeface="Tahoma"/>
              </a:rPr>
              <a:t> </a:t>
            </a:r>
            <a:r>
              <a:rPr lang="en-US" u="sng" spc="60" dirty="0">
                <a:solidFill>
                  <a:srgbClr val="1B1F34"/>
                </a:solidFill>
                <a:latin typeface="Tahoma"/>
                <a:cs typeface="Tahoma"/>
              </a:rPr>
              <a:t>O</a:t>
            </a:r>
            <a:r>
              <a:rPr u="sng" spc="-80" dirty="0" smtClean="0">
                <a:solidFill>
                  <a:srgbClr val="1B1F34"/>
                </a:solidFill>
                <a:latin typeface="Tahoma"/>
                <a:cs typeface="Tahoma"/>
              </a:rPr>
              <a:t>T</a:t>
            </a:r>
            <a:endParaRPr u="sng" spc="-80" dirty="0">
              <a:solidFill>
                <a:srgbClr val="1B1F34"/>
              </a:solidFill>
              <a:latin typeface="Tahoma"/>
              <a:cs typeface="Tahoma"/>
            </a:endParaRPr>
          </a:p>
        </p:txBody>
      </p:sp>
      <p:pic>
        <p:nvPicPr>
          <p:cNvPr id="4" name="Picture 3"/>
          <p:cNvPicPr>
            <a:picLocks noChangeAspect="1"/>
          </p:cNvPicPr>
          <p:nvPr/>
        </p:nvPicPr>
        <p:blipFill>
          <a:blip r:embed="rId3"/>
          <a:stretch>
            <a:fillRect/>
          </a:stretch>
        </p:blipFill>
        <p:spPr>
          <a:xfrm>
            <a:off x="13915415" y="9143840"/>
            <a:ext cx="4372585" cy="1143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3480" y="594709"/>
            <a:ext cx="6715759" cy="863600"/>
          </a:xfrm>
          <a:prstGeom prst="rect">
            <a:avLst/>
          </a:prstGeom>
        </p:spPr>
        <p:txBody>
          <a:bodyPr vert="horz" wrap="square" lIns="0" tIns="12700" rIns="0" bIns="0" rtlCol="0">
            <a:spAutoFit/>
          </a:bodyPr>
          <a:lstStyle/>
          <a:p>
            <a:pPr marL="12700">
              <a:lnSpc>
                <a:spcPct val="100000"/>
              </a:lnSpc>
              <a:spcBef>
                <a:spcPts val="100"/>
              </a:spcBef>
            </a:pPr>
            <a:r>
              <a:rPr sz="5500" spc="-450" dirty="0">
                <a:solidFill>
                  <a:srgbClr val="081A9A"/>
                </a:solidFill>
              </a:rPr>
              <a:t>P</a:t>
            </a:r>
            <a:r>
              <a:rPr sz="5500" spc="-420" dirty="0">
                <a:solidFill>
                  <a:srgbClr val="081A9A"/>
                </a:solidFill>
              </a:rPr>
              <a:t>r</a:t>
            </a:r>
            <a:r>
              <a:rPr sz="5500" spc="-340" dirty="0">
                <a:solidFill>
                  <a:srgbClr val="081A9A"/>
                </a:solidFill>
              </a:rPr>
              <a:t>o</a:t>
            </a:r>
            <a:r>
              <a:rPr sz="5500" spc="-305" dirty="0">
                <a:solidFill>
                  <a:srgbClr val="081A9A"/>
                </a:solidFill>
              </a:rPr>
              <a:t>b</a:t>
            </a:r>
            <a:r>
              <a:rPr sz="5500" spc="-180" dirty="0">
                <a:solidFill>
                  <a:srgbClr val="081A9A"/>
                </a:solidFill>
              </a:rPr>
              <a:t>l</a:t>
            </a:r>
            <a:r>
              <a:rPr sz="5500" spc="-440" dirty="0">
                <a:solidFill>
                  <a:srgbClr val="081A9A"/>
                </a:solidFill>
              </a:rPr>
              <a:t>e</a:t>
            </a:r>
            <a:r>
              <a:rPr sz="5500" spc="-700" dirty="0">
                <a:solidFill>
                  <a:srgbClr val="081A9A"/>
                </a:solidFill>
              </a:rPr>
              <a:t>m</a:t>
            </a:r>
            <a:r>
              <a:rPr sz="5500" spc="-585" dirty="0">
                <a:solidFill>
                  <a:srgbClr val="081A9A"/>
                </a:solidFill>
              </a:rPr>
              <a:t> </a:t>
            </a:r>
            <a:r>
              <a:rPr sz="5500" spc="-540" dirty="0">
                <a:solidFill>
                  <a:srgbClr val="081A9A"/>
                </a:solidFill>
              </a:rPr>
              <a:t>S</a:t>
            </a:r>
            <a:r>
              <a:rPr sz="5500" spc="-210" dirty="0">
                <a:solidFill>
                  <a:srgbClr val="081A9A"/>
                </a:solidFill>
              </a:rPr>
              <a:t>t</a:t>
            </a:r>
            <a:r>
              <a:rPr sz="5500" spc="-560" dirty="0">
                <a:solidFill>
                  <a:srgbClr val="081A9A"/>
                </a:solidFill>
              </a:rPr>
              <a:t>a</a:t>
            </a:r>
            <a:r>
              <a:rPr sz="5500" spc="-210" dirty="0">
                <a:solidFill>
                  <a:srgbClr val="081A9A"/>
                </a:solidFill>
              </a:rPr>
              <a:t>t</a:t>
            </a:r>
            <a:r>
              <a:rPr sz="5500" spc="-440" dirty="0">
                <a:solidFill>
                  <a:srgbClr val="081A9A"/>
                </a:solidFill>
              </a:rPr>
              <a:t>e</a:t>
            </a:r>
            <a:r>
              <a:rPr sz="5500" spc="-705" dirty="0">
                <a:solidFill>
                  <a:srgbClr val="081A9A"/>
                </a:solidFill>
              </a:rPr>
              <a:t>m</a:t>
            </a:r>
            <a:r>
              <a:rPr sz="5500" spc="-440" dirty="0">
                <a:solidFill>
                  <a:srgbClr val="081A9A"/>
                </a:solidFill>
              </a:rPr>
              <a:t>e</a:t>
            </a:r>
            <a:r>
              <a:rPr sz="5500" spc="-455" dirty="0">
                <a:solidFill>
                  <a:srgbClr val="081A9A"/>
                </a:solidFill>
              </a:rPr>
              <a:t>n</a:t>
            </a:r>
            <a:r>
              <a:rPr sz="5500" spc="-204" dirty="0">
                <a:solidFill>
                  <a:srgbClr val="081A9A"/>
                </a:solidFill>
              </a:rPr>
              <a:t>t</a:t>
            </a:r>
            <a:endParaRPr sz="5500"/>
          </a:p>
        </p:txBody>
      </p:sp>
      <p:pic>
        <p:nvPicPr>
          <p:cNvPr id="3" name="object 3"/>
          <p:cNvPicPr/>
          <p:nvPr/>
        </p:nvPicPr>
        <p:blipFill>
          <a:blip r:embed="rId2" cstate="print"/>
          <a:stretch>
            <a:fillRect/>
          </a:stretch>
        </p:blipFill>
        <p:spPr>
          <a:xfrm>
            <a:off x="973966" y="3052762"/>
            <a:ext cx="161924" cy="161924"/>
          </a:xfrm>
          <a:prstGeom prst="rect">
            <a:avLst/>
          </a:prstGeom>
        </p:spPr>
      </p:pic>
      <p:sp>
        <p:nvSpPr>
          <p:cNvPr id="4" name="object 4"/>
          <p:cNvSpPr txBox="1"/>
          <p:nvPr/>
        </p:nvSpPr>
        <p:spPr>
          <a:xfrm>
            <a:off x="1354767" y="2705354"/>
            <a:ext cx="16223615" cy="4759325"/>
          </a:xfrm>
          <a:prstGeom prst="rect">
            <a:avLst/>
          </a:prstGeom>
        </p:spPr>
        <p:txBody>
          <a:bodyPr vert="horz" wrap="square" lIns="0" tIns="11430" rIns="0" bIns="0" rtlCol="0">
            <a:spAutoFit/>
          </a:bodyPr>
          <a:lstStyle/>
          <a:p>
            <a:pPr marL="12700" marR="536575">
              <a:lnSpc>
                <a:spcPct val="109600"/>
              </a:lnSpc>
              <a:spcBef>
                <a:spcPts val="90"/>
              </a:spcBef>
            </a:pPr>
            <a:r>
              <a:rPr sz="4050" spc="-80" dirty="0">
                <a:latin typeface="Trebuchet MS"/>
                <a:cs typeface="Trebuchet MS"/>
              </a:rPr>
              <a:t>Implement</a:t>
            </a:r>
            <a:r>
              <a:rPr sz="4050" spc="40" dirty="0">
                <a:latin typeface="Trebuchet MS"/>
                <a:cs typeface="Trebuchet MS"/>
              </a:rPr>
              <a:t> </a:t>
            </a:r>
            <a:r>
              <a:rPr sz="4050" spc="65" dirty="0">
                <a:latin typeface="Trebuchet MS"/>
                <a:cs typeface="Trebuchet MS"/>
              </a:rPr>
              <a:t>an</a:t>
            </a:r>
            <a:r>
              <a:rPr sz="4050" spc="40" dirty="0">
                <a:latin typeface="Trebuchet MS"/>
                <a:cs typeface="Trebuchet MS"/>
              </a:rPr>
              <a:t> </a:t>
            </a:r>
            <a:r>
              <a:rPr sz="4050" spc="-25" dirty="0">
                <a:latin typeface="Trebuchet MS"/>
                <a:cs typeface="Trebuchet MS"/>
              </a:rPr>
              <a:t>optimized</a:t>
            </a:r>
            <a:r>
              <a:rPr sz="4050" spc="45" dirty="0">
                <a:latin typeface="Trebuchet MS"/>
                <a:cs typeface="Trebuchet MS"/>
              </a:rPr>
              <a:t> </a:t>
            </a:r>
            <a:r>
              <a:rPr sz="4050" spc="-60" dirty="0">
                <a:latin typeface="Trebuchet MS"/>
                <a:cs typeface="Trebuchet MS"/>
              </a:rPr>
              <a:t>distribution</a:t>
            </a:r>
            <a:r>
              <a:rPr sz="4050" spc="40" dirty="0">
                <a:latin typeface="Trebuchet MS"/>
                <a:cs typeface="Trebuchet MS"/>
              </a:rPr>
              <a:t> </a:t>
            </a:r>
            <a:r>
              <a:rPr sz="4050" spc="-5" dirty="0">
                <a:latin typeface="Trebuchet MS"/>
                <a:cs typeface="Trebuchet MS"/>
              </a:rPr>
              <a:t>strategy</a:t>
            </a:r>
            <a:r>
              <a:rPr sz="4050" spc="45" dirty="0">
                <a:latin typeface="Trebuchet MS"/>
                <a:cs typeface="Trebuchet MS"/>
              </a:rPr>
              <a:t> </a:t>
            </a:r>
            <a:r>
              <a:rPr sz="4050" spc="-65" dirty="0">
                <a:latin typeface="Trebuchet MS"/>
                <a:cs typeface="Trebuchet MS"/>
              </a:rPr>
              <a:t>for</a:t>
            </a:r>
            <a:r>
              <a:rPr sz="4050" spc="40" dirty="0">
                <a:latin typeface="Trebuchet MS"/>
                <a:cs typeface="Trebuchet MS"/>
              </a:rPr>
              <a:t> </a:t>
            </a:r>
            <a:r>
              <a:rPr sz="4050" spc="-15" dirty="0">
                <a:latin typeface="Trebuchet MS"/>
                <a:cs typeface="Trebuchet MS"/>
              </a:rPr>
              <a:t>transporting</a:t>
            </a:r>
            <a:r>
              <a:rPr sz="4050" spc="45" dirty="0">
                <a:latin typeface="Trebuchet MS"/>
                <a:cs typeface="Trebuchet MS"/>
              </a:rPr>
              <a:t> </a:t>
            </a:r>
            <a:r>
              <a:rPr sz="4050" spc="165" dirty="0">
                <a:latin typeface="Trebuchet MS"/>
                <a:cs typeface="Trebuchet MS"/>
              </a:rPr>
              <a:t>goods </a:t>
            </a:r>
            <a:r>
              <a:rPr sz="4050" spc="-1205" dirty="0">
                <a:latin typeface="Trebuchet MS"/>
                <a:cs typeface="Trebuchet MS"/>
              </a:rPr>
              <a:t> </a:t>
            </a:r>
            <a:r>
              <a:rPr sz="4050" spc="-95" dirty="0">
                <a:latin typeface="Trebuchet MS"/>
                <a:cs typeface="Trebuchet MS"/>
              </a:rPr>
              <a:t>from</a:t>
            </a:r>
            <a:r>
              <a:rPr sz="4050" spc="40" dirty="0">
                <a:latin typeface="Trebuchet MS"/>
                <a:cs typeface="Trebuchet MS"/>
              </a:rPr>
              <a:t> </a:t>
            </a:r>
            <a:r>
              <a:rPr sz="4050" spc="190" dirty="0">
                <a:latin typeface="Trebuchet MS"/>
                <a:cs typeface="Trebuchet MS"/>
              </a:rPr>
              <a:t>a</a:t>
            </a:r>
            <a:r>
              <a:rPr sz="4050" spc="40" dirty="0">
                <a:latin typeface="Trebuchet MS"/>
                <a:cs typeface="Trebuchet MS"/>
              </a:rPr>
              <a:t> </a:t>
            </a:r>
            <a:r>
              <a:rPr sz="4050" spc="-35" dirty="0">
                <a:latin typeface="Trebuchet MS"/>
                <a:cs typeface="Trebuchet MS"/>
              </a:rPr>
              <a:t>central</a:t>
            </a:r>
            <a:r>
              <a:rPr sz="4050" spc="40" dirty="0">
                <a:latin typeface="Trebuchet MS"/>
                <a:cs typeface="Trebuchet MS"/>
              </a:rPr>
              <a:t> </a:t>
            </a:r>
            <a:r>
              <a:rPr sz="4050" spc="-20" dirty="0">
                <a:latin typeface="Trebuchet MS"/>
                <a:cs typeface="Trebuchet MS"/>
              </a:rPr>
              <a:t>hub</a:t>
            </a:r>
            <a:r>
              <a:rPr sz="4050" spc="40" dirty="0">
                <a:latin typeface="Trebuchet MS"/>
                <a:cs typeface="Trebuchet MS"/>
              </a:rPr>
              <a:t> </a:t>
            </a:r>
            <a:r>
              <a:rPr sz="4050" spc="-60" dirty="0">
                <a:latin typeface="Trebuchet MS"/>
                <a:cs typeface="Trebuchet MS"/>
              </a:rPr>
              <a:t>to</a:t>
            </a:r>
            <a:r>
              <a:rPr sz="4050" spc="40" dirty="0">
                <a:latin typeface="Trebuchet MS"/>
                <a:cs typeface="Trebuchet MS"/>
              </a:rPr>
              <a:t> </a:t>
            </a:r>
            <a:r>
              <a:rPr sz="4050" spc="-110" dirty="0">
                <a:latin typeface="Trebuchet MS"/>
                <a:cs typeface="Trebuchet MS"/>
              </a:rPr>
              <a:t>multiple</a:t>
            </a:r>
            <a:r>
              <a:rPr sz="4050" spc="40" dirty="0">
                <a:latin typeface="Trebuchet MS"/>
                <a:cs typeface="Trebuchet MS"/>
              </a:rPr>
              <a:t> </a:t>
            </a:r>
            <a:r>
              <a:rPr sz="4050" spc="-20" dirty="0">
                <a:latin typeface="Trebuchet MS"/>
                <a:cs typeface="Trebuchet MS"/>
              </a:rPr>
              <a:t>spokes.</a:t>
            </a:r>
            <a:endParaRPr sz="4050">
              <a:latin typeface="Trebuchet MS"/>
              <a:cs typeface="Trebuchet MS"/>
            </a:endParaRPr>
          </a:p>
          <a:p>
            <a:pPr>
              <a:lnSpc>
                <a:spcPct val="100000"/>
              </a:lnSpc>
              <a:spcBef>
                <a:spcPts val="40"/>
              </a:spcBef>
            </a:pPr>
            <a:endParaRPr sz="4550">
              <a:latin typeface="Trebuchet MS"/>
              <a:cs typeface="Trebuchet MS"/>
            </a:endParaRPr>
          </a:p>
          <a:p>
            <a:pPr marL="12700" marR="5080">
              <a:lnSpc>
                <a:spcPct val="109600"/>
              </a:lnSpc>
              <a:spcBef>
                <a:spcPts val="5"/>
              </a:spcBef>
            </a:pPr>
            <a:r>
              <a:rPr sz="4050" spc="-180" dirty="0">
                <a:latin typeface="Trebuchet MS"/>
                <a:cs typeface="Trebuchet MS"/>
              </a:rPr>
              <a:t>The</a:t>
            </a:r>
            <a:r>
              <a:rPr sz="4050" spc="45" dirty="0">
                <a:latin typeface="Trebuchet MS"/>
                <a:cs typeface="Trebuchet MS"/>
              </a:rPr>
              <a:t> </a:t>
            </a:r>
            <a:r>
              <a:rPr sz="4050" spc="-40" dirty="0">
                <a:latin typeface="Trebuchet MS"/>
                <a:cs typeface="Trebuchet MS"/>
              </a:rPr>
              <a:t>objective</a:t>
            </a:r>
            <a:r>
              <a:rPr sz="4050" spc="45" dirty="0">
                <a:latin typeface="Trebuchet MS"/>
                <a:cs typeface="Trebuchet MS"/>
              </a:rPr>
              <a:t> </a:t>
            </a:r>
            <a:r>
              <a:rPr sz="4050" spc="-75" dirty="0">
                <a:latin typeface="Trebuchet MS"/>
                <a:cs typeface="Trebuchet MS"/>
              </a:rPr>
              <a:t>is</a:t>
            </a:r>
            <a:r>
              <a:rPr sz="4050" spc="50" dirty="0">
                <a:latin typeface="Trebuchet MS"/>
                <a:cs typeface="Trebuchet MS"/>
              </a:rPr>
              <a:t> </a:t>
            </a:r>
            <a:r>
              <a:rPr sz="4050" spc="-60" dirty="0">
                <a:latin typeface="Trebuchet MS"/>
                <a:cs typeface="Trebuchet MS"/>
              </a:rPr>
              <a:t>to</a:t>
            </a:r>
            <a:r>
              <a:rPr sz="4050" spc="45" dirty="0">
                <a:latin typeface="Trebuchet MS"/>
                <a:cs typeface="Trebuchet MS"/>
              </a:rPr>
              <a:t> </a:t>
            </a:r>
            <a:r>
              <a:rPr sz="4050" spc="-105" dirty="0">
                <a:latin typeface="Trebuchet MS"/>
                <a:cs typeface="Trebuchet MS"/>
              </a:rPr>
              <a:t>minimize</a:t>
            </a:r>
            <a:r>
              <a:rPr sz="4050" spc="50" dirty="0">
                <a:latin typeface="Trebuchet MS"/>
                <a:cs typeface="Trebuchet MS"/>
              </a:rPr>
              <a:t> </a:t>
            </a:r>
            <a:r>
              <a:rPr sz="4050" spc="-55" dirty="0">
                <a:latin typeface="Trebuchet MS"/>
                <a:cs typeface="Trebuchet MS"/>
              </a:rPr>
              <a:t>total</a:t>
            </a:r>
            <a:r>
              <a:rPr sz="4050" spc="45" dirty="0">
                <a:latin typeface="Trebuchet MS"/>
                <a:cs typeface="Trebuchet MS"/>
              </a:rPr>
              <a:t> </a:t>
            </a:r>
            <a:r>
              <a:rPr sz="4050" spc="-25" dirty="0">
                <a:latin typeface="Trebuchet MS"/>
                <a:cs typeface="Trebuchet MS"/>
              </a:rPr>
              <a:t>transportation</a:t>
            </a:r>
            <a:r>
              <a:rPr sz="4050" spc="50" dirty="0">
                <a:latin typeface="Trebuchet MS"/>
                <a:cs typeface="Trebuchet MS"/>
              </a:rPr>
              <a:t> </a:t>
            </a:r>
            <a:r>
              <a:rPr sz="4050" spc="45" dirty="0">
                <a:latin typeface="Trebuchet MS"/>
                <a:cs typeface="Trebuchet MS"/>
              </a:rPr>
              <a:t>costs </a:t>
            </a:r>
            <a:r>
              <a:rPr sz="4050" spc="-65" dirty="0">
                <a:latin typeface="Trebuchet MS"/>
                <a:cs typeface="Trebuchet MS"/>
              </a:rPr>
              <a:t>by</a:t>
            </a:r>
            <a:r>
              <a:rPr sz="4050" spc="50" dirty="0">
                <a:latin typeface="Trebuchet MS"/>
                <a:cs typeface="Trebuchet MS"/>
              </a:rPr>
              <a:t> </a:t>
            </a:r>
            <a:r>
              <a:rPr sz="4050" spc="15" dirty="0">
                <a:latin typeface="Trebuchet MS"/>
                <a:cs typeface="Trebuchet MS"/>
              </a:rPr>
              <a:t>selecting</a:t>
            </a:r>
            <a:r>
              <a:rPr sz="4050" spc="45" dirty="0">
                <a:latin typeface="Trebuchet MS"/>
                <a:cs typeface="Trebuchet MS"/>
              </a:rPr>
              <a:t> </a:t>
            </a:r>
            <a:r>
              <a:rPr sz="4050" spc="-80" dirty="0">
                <a:latin typeface="Trebuchet MS"/>
                <a:cs typeface="Trebuchet MS"/>
              </a:rPr>
              <a:t>the </a:t>
            </a:r>
            <a:r>
              <a:rPr sz="4050" spc="-1205" dirty="0">
                <a:latin typeface="Trebuchet MS"/>
                <a:cs typeface="Trebuchet MS"/>
              </a:rPr>
              <a:t> </a:t>
            </a:r>
            <a:r>
              <a:rPr sz="4050" spc="-55" dirty="0">
                <a:latin typeface="Trebuchet MS"/>
                <a:cs typeface="Trebuchet MS"/>
              </a:rPr>
              <a:t>most</a:t>
            </a:r>
            <a:r>
              <a:rPr sz="4050" spc="40" dirty="0">
                <a:latin typeface="Trebuchet MS"/>
                <a:cs typeface="Trebuchet MS"/>
              </a:rPr>
              <a:t> </a:t>
            </a:r>
            <a:r>
              <a:rPr sz="4050" spc="-15" dirty="0">
                <a:latin typeface="Trebuchet MS"/>
                <a:cs typeface="Trebuchet MS"/>
              </a:rPr>
              <a:t>suitable</a:t>
            </a:r>
            <a:r>
              <a:rPr sz="4050" spc="40" dirty="0">
                <a:latin typeface="Trebuchet MS"/>
                <a:cs typeface="Trebuchet MS"/>
              </a:rPr>
              <a:t> </a:t>
            </a:r>
            <a:r>
              <a:rPr sz="4050" spc="-55" dirty="0">
                <a:latin typeface="Trebuchet MS"/>
                <a:cs typeface="Trebuchet MS"/>
              </a:rPr>
              <a:t>trucks,strategically</a:t>
            </a:r>
            <a:r>
              <a:rPr sz="4050" spc="45" dirty="0">
                <a:latin typeface="Trebuchet MS"/>
                <a:cs typeface="Trebuchet MS"/>
              </a:rPr>
              <a:t> </a:t>
            </a:r>
            <a:r>
              <a:rPr sz="4050" spc="80" dirty="0">
                <a:latin typeface="Trebuchet MS"/>
                <a:cs typeface="Trebuchet MS"/>
              </a:rPr>
              <a:t>assigning</a:t>
            </a:r>
            <a:r>
              <a:rPr sz="4050" spc="40" dirty="0">
                <a:latin typeface="Trebuchet MS"/>
                <a:cs typeface="Trebuchet MS"/>
              </a:rPr>
              <a:t> </a:t>
            </a:r>
            <a:r>
              <a:rPr sz="4050" spc="25" dirty="0">
                <a:latin typeface="Trebuchet MS"/>
                <a:cs typeface="Trebuchet MS"/>
              </a:rPr>
              <a:t>loads,and</a:t>
            </a:r>
            <a:r>
              <a:rPr sz="4050" spc="40" dirty="0">
                <a:latin typeface="Trebuchet MS"/>
                <a:cs typeface="Trebuchet MS"/>
              </a:rPr>
              <a:t> </a:t>
            </a:r>
            <a:r>
              <a:rPr sz="4050" spc="20" dirty="0">
                <a:latin typeface="Trebuchet MS"/>
                <a:cs typeface="Trebuchet MS"/>
              </a:rPr>
              <a:t>planning </a:t>
            </a:r>
            <a:r>
              <a:rPr sz="4050" spc="25" dirty="0">
                <a:latin typeface="Trebuchet MS"/>
                <a:cs typeface="Trebuchet MS"/>
              </a:rPr>
              <a:t> </a:t>
            </a:r>
            <a:r>
              <a:rPr sz="4050" spc="-35" dirty="0">
                <a:latin typeface="Trebuchet MS"/>
                <a:cs typeface="Trebuchet MS"/>
              </a:rPr>
              <a:t>efficient</a:t>
            </a:r>
            <a:r>
              <a:rPr sz="4050" spc="40" dirty="0">
                <a:latin typeface="Trebuchet MS"/>
                <a:cs typeface="Trebuchet MS"/>
              </a:rPr>
              <a:t> </a:t>
            </a:r>
            <a:r>
              <a:rPr sz="4050" spc="-90" dirty="0">
                <a:latin typeface="Trebuchet MS"/>
                <a:cs typeface="Trebuchet MS"/>
              </a:rPr>
              <a:t>routes,all</a:t>
            </a:r>
            <a:r>
              <a:rPr sz="4050" spc="40" dirty="0">
                <a:latin typeface="Trebuchet MS"/>
                <a:cs typeface="Trebuchet MS"/>
              </a:rPr>
              <a:t> </a:t>
            </a:r>
            <a:r>
              <a:rPr sz="4050" spc="-80" dirty="0">
                <a:latin typeface="Trebuchet MS"/>
                <a:cs typeface="Trebuchet MS"/>
              </a:rPr>
              <a:t>while</a:t>
            </a:r>
            <a:r>
              <a:rPr sz="4050" spc="40" dirty="0">
                <a:latin typeface="Trebuchet MS"/>
                <a:cs typeface="Trebuchet MS"/>
              </a:rPr>
              <a:t> </a:t>
            </a:r>
            <a:r>
              <a:rPr sz="4050" spc="30" dirty="0">
                <a:latin typeface="Trebuchet MS"/>
                <a:cs typeface="Trebuchet MS"/>
              </a:rPr>
              <a:t>considering</a:t>
            </a:r>
            <a:r>
              <a:rPr sz="4050" spc="40" dirty="0">
                <a:latin typeface="Trebuchet MS"/>
                <a:cs typeface="Trebuchet MS"/>
              </a:rPr>
              <a:t> </a:t>
            </a:r>
            <a:r>
              <a:rPr sz="4050" spc="-125" dirty="0">
                <a:latin typeface="Trebuchet MS"/>
                <a:cs typeface="Trebuchet MS"/>
              </a:rPr>
              <a:t>truck</a:t>
            </a:r>
            <a:r>
              <a:rPr sz="4050" spc="40" dirty="0">
                <a:latin typeface="Trebuchet MS"/>
                <a:cs typeface="Trebuchet MS"/>
              </a:rPr>
              <a:t> </a:t>
            </a:r>
            <a:r>
              <a:rPr sz="4050" spc="70" dirty="0">
                <a:latin typeface="Trebuchet MS"/>
                <a:cs typeface="Trebuchet MS"/>
              </a:rPr>
              <a:t>capacities</a:t>
            </a:r>
            <a:r>
              <a:rPr sz="4050" spc="40" dirty="0">
                <a:latin typeface="Trebuchet MS"/>
                <a:cs typeface="Trebuchet MS"/>
              </a:rPr>
              <a:t> </a:t>
            </a:r>
            <a:r>
              <a:rPr sz="4050" spc="90" dirty="0">
                <a:latin typeface="Trebuchet MS"/>
                <a:cs typeface="Trebuchet MS"/>
              </a:rPr>
              <a:t>and</a:t>
            </a:r>
            <a:r>
              <a:rPr sz="4050" spc="40" dirty="0">
                <a:latin typeface="Trebuchet MS"/>
                <a:cs typeface="Trebuchet MS"/>
              </a:rPr>
              <a:t> </a:t>
            </a:r>
            <a:r>
              <a:rPr sz="4050" spc="-80" dirty="0">
                <a:latin typeface="Trebuchet MS"/>
                <a:cs typeface="Trebuchet MS"/>
              </a:rPr>
              <a:t>the </a:t>
            </a:r>
            <a:r>
              <a:rPr sz="4050" spc="-75" dirty="0">
                <a:latin typeface="Trebuchet MS"/>
                <a:cs typeface="Trebuchet MS"/>
              </a:rPr>
              <a:t> </a:t>
            </a:r>
            <a:r>
              <a:rPr sz="4050" spc="40" dirty="0">
                <a:latin typeface="Trebuchet MS"/>
                <a:cs typeface="Trebuchet MS"/>
              </a:rPr>
              <a:t>distances</a:t>
            </a:r>
            <a:r>
              <a:rPr sz="4050" spc="35" dirty="0">
                <a:latin typeface="Trebuchet MS"/>
                <a:cs typeface="Trebuchet MS"/>
              </a:rPr>
              <a:t> </a:t>
            </a:r>
            <a:r>
              <a:rPr sz="4050" spc="15" dirty="0">
                <a:latin typeface="Trebuchet MS"/>
                <a:cs typeface="Trebuchet MS"/>
              </a:rPr>
              <a:t>between</a:t>
            </a:r>
            <a:r>
              <a:rPr sz="4050" spc="40" dirty="0">
                <a:latin typeface="Trebuchet MS"/>
                <a:cs typeface="Trebuchet MS"/>
              </a:rPr>
              <a:t> </a:t>
            </a:r>
            <a:r>
              <a:rPr sz="4050" spc="-80" dirty="0">
                <a:latin typeface="Trebuchet MS"/>
                <a:cs typeface="Trebuchet MS"/>
              </a:rPr>
              <a:t>the</a:t>
            </a:r>
            <a:r>
              <a:rPr sz="4050" spc="40" dirty="0">
                <a:latin typeface="Trebuchet MS"/>
                <a:cs typeface="Trebuchet MS"/>
              </a:rPr>
              <a:t> </a:t>
            </a:r>
            <a:r>
              <a:rPr sz="4050" spc="-20" dirty="0">
                <a:latin typeface="Trebuchet MS"/>
                <a:cs typeface="Trebuchet MS"/>
              </a:rPr>
              <a:t>hub</a:t>
            </a:r>
            <a:r>
              <a:rPr sz="4050" spc="40" dirty="0">
                <a:latin typeface="Trebuchet MS"/>
                <a:cs typeface="Trebuchet MS"/>
              </a:rPr>
              <a:t> </a:t>
            </a:r>
            <a:r>
              <a:rPr sz="4050" spc="90" dirty="0">
                <a:latin typeface="Trebuchet MS"/>
                <a:cs typeface="Trebuchet MS"/>
              </a:rPr>
              <a:t>and</a:t>
            </a:r>
            <a:r>
              <a:rPr sz="4050" spc="40" dirty="0">
                <a:latin typeface="Trebuchet MS"/>
                <a:cs typeface="Trebuchet MS"/>
              </a:rPr>
              <a:t> </a:t>
            </a:r>
            <a:r>
              <a:rPr sz="4050" spc="-125" dirty="0">
                <a:latin typeface="Trebuchet MS"/>
                <a:cs typeface="Trebuchet MS"/>
              </a:rPr>
              <a:t>trucks.</a:t>
            </a:r>
            <a:endParaRPr sz="4050">
              <a:latin typeface="Trebuchet MS"/>
              <a:cs typeface="Trebuchet MS"/>
            </a:endParaRPr>
          </a:p>
        </p:txBody>
      </p:sp>
      <p:pic>
        <p:nvPicPr>
          <p:cNvPr id="5" name="object 5"/>
          <p:cNvPicPr/>
          <p:nvPr/>
        </p:nvPicPr>
        <p:blipFill>
          <a:blip r:embed="rId2" cstate="print"/>
          <a:stretch>
            <a:fillRect/>
          </a:stretch>
        </p:blipFill>
        <p:spPr>
          <a:xfrm>
            <a:off x="973966" y="5081587"/>
            <a:ext cx="161924" cy="161924"/>
          </a:xfrm>
          <a:prstGeom prst="rect">
            <a:avLst/>
          </a:prstGeom>
        </p:spPr>
      </p:pic>
      <p:pic>
        <p:nvPicPr>
          <p:cNvPr id="6" name="Picture 5"/>
          <p:cNvPicPr>
            <a:picLocks noChangeAspect="1"/>
          </p:cNvPicPr>
          <p:nvPr/>
        </p:nvPicPr>
        <p:blipFill>
          <a:blip r:embed="rId3"/>
          <a:stretch>
            <a:fillRect/>
          </a:stretch>
        </p:blipFill>
        <p:spPr>
          <a:xfrm>
            <a:off x="13915415" y="9119595"/>
            <a:ext cx="4372585" cy="11431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16148" y="574706"/>
            <a:ext cx="4525010" cy="863600"/>
          </a:xfrm>
          <a:prstGeom prst="rect">
            <a:avLst/>
          </a:prstGeom>
        </p:spPr>
        <p:txBody>
          <a:bodyPr vert="horz" wrap="square" lIns="0" tIns="12700" rIns="0" bIns="0" rtlCol="0">
            <a:spAutoFit/>
          </a:bodyPr>
          <a:lstStyle/>
          <a:p>
            <a:pPr marL="12700">
              <a:lnSpc>
                <a:spcPct val="100000"/>
              </a:lnSpc>
              <a:spcBef>
                <a:spcPts val="100"/>
              </a:spcBef>
            </a:pPr>
            <a:r>
              <a:rPr sz="5500" u="sng" spc="-65" dirty="0">
                <a:solidFill>
                  <a:srgbClr val="081A9A"/>
                </a:solidFill>
                <a:latin typeface="Tahoma"/>
                <a:cs typeface="Tahoma"/>
              </a:rPr>
              <a:t>Stakeholders</a:t>
            </a:r>
            <a:endParaRPr sz="5500" u="sng" dirty="0">
              <a:latin typeface="Tahoma"/>
              <a:cs typeface="Tahoma"/>
            </a:endParaRPr>
          </a:p>
        </p:txBody>
      </p:sp>
      <p:pic>
        <p:nvPicPr>
          <p:cNvPr id="3" name="object 3"/>
          <p:cNvPicPr/>
          <p:nvPr/>
        </p:nvPicPr>
        <p:blipFill>
          <a:blip r:embed="rId2" cstate="print"/>
          <a:stretch>
            <a:fillRect/>
          </a:stretch>
        </p:blipFill>
        <p:spPr>
          <a:xfrm>
            <a:off x="1466849" y="2693361"/>
            <a:ext cx="180975" cy="180974"/>
          </a:xfrm>
          <a:prstGeom prst="rect">
            <a:avLst/>
          </a:prstGeom>
        </p:spPr>
      </p:pic>
      <p:sp>
        <p:nvSpPr>
          <p:cNvPr id="4" name="object 4"/>
          <p:cNvSpPr txBox="1"/>
          <p:nvPr/>
        </p:nvSpPr>
        <p:spPr>
          <a:xfrm>
            <a:off x="1882328" y="2447298"/>
            <a:ext cx="9102725" cy="6275705"/>
          </a:xfrm>
          <a:prstGeom prst="rect">
            <a:avLst/>
          </a:prstGeom>
        </p:spPr>
        <p:txBody>
          <a:bodyPr vert="horz" wrap="square" lIns="0" tIns="13970" rIns="0" bIns="0" rtlCol="0">
            <a:spAutoFit/>
          </a:bodyPr>
          <a:lstStyle/>
          <a:p>
            <a:pPr marL="12700">
              <a:lnSpc>
                <a:spcPct val="100000"/>
              </a:lnSpc>
              <a:spcBef>
                <a:spcPts val="110"/>
              </a:spcBef>
            </a:pPr>
            <a:r>
              <a:rPr sz="4000" b="1" spc="-55" dirty="0">
                <a:latin typeface="Tahoma"/>
                <a:cs typeface="Tahoma"/>
              </a:rPr>
              <a:t>Logistics/Operations</a:t>
            </a:r>
            <a:r>
              <a:rPr sz="4000" b="1" spc="-229" dirty="0">
                <a:latin typeface="Tahoma"/>
                <a:cs typeface="Tahoma"/>
              </a:rPr>
              <a:t> </a:t>
            </a:r>
            <a:r>
              <a:rPr sz="4000" b="1" spc="-70" dirty="0">
                <a:latin typeface="Tahoma"/>
                <a:cs typeface="Tahoma"/>
              </a:rPr>
              <a:t>Manager</a:t>
            </a:r>
            <a:endParaRPr sz="4000">
              <a:latin typeface="Tahoma"/>
              <a:cs typeface="Tahoma"/>
            </a:endParaRPr>
          </a:p>
          <a:p>
            <a:pPr marL="12700" marR="1600200">
              <a:lnSpc>
                <a:spcPct val="231199"/>
              </a:lnSpc>
              <a:spcBef>
                <a:spcPts val="5"/>
              </a:spcBef>
            </a:pPr>
            <a:r>
              <a:rPr sz="4000" b="1" spc="-60" dirty="0">
                <a:latin typeface="Tahoma"/>
                <a:cs typeface="Tahoma"/>
              </a:rPr>
              <a:t>Truck</a:t>
            </a:r>
            <a:r>
              <a:rPr sz="4000" b="1" spc="-229" dirty="0">
                <a:latin typeface="Tahoma"/>
                <a:cs typeface="Tahoma"/>
              </a:rPr>
              <a:t> </a:t>
            </a:r>
            <a:r>
              <a:rPr sz="4000" b="1" spc="-65" dirty="0">
                <a:latin typeface="Tahoma"/>
                <a:cs typeface="Tahoma"/>
              </a:rPr>
              <a:t>Drivers/Transport</a:t>
            </a:r>
            <a:r>
              <a:rPr sz="4000" b="1" spc="-229" dirty="0">
                <a:latin typeface="Tahoma"/>
                <a:cs typeface="Tahoma"/>
              </a:rPr>
              <a:t> </a:t>
            </a:r>
            <a:r>
              <a:rPr sz="4000" b="1" spc="-60" dirty="0">
                <a:latin typeface="Tahoma"/>
                <a:cs typeface="Tahoma"/>
              </a:rPr>
              <a:t>Team  </a:t>
            </a:r>
            <a:r>
              <a:rPr sz="4000" b="1" spc="-15" dirty="0">
                <a:latin typeface="Tahoma"/>
                <a:cs typeface="Tahoma"/>
              </a:rPr>
              <a:t>Suppliers </a:t>
            </a:r>
            <a:r>
              <a:rPr sz="4000" b="1" spc="-25" dirty="0">
                <a:latin typeface="Tahoma"/>
                <a:cs typeface="Tahoma"/>
              </a:rPr>
              <a:t>and Manufacturers </a:t>
            </a:r>
            <a:r>
              <a:rPr sz="4000" b="1" spc="-20" dirty="0">
                <a:latin typeface="Tahoma"/>
                <a:cs typeface="Tahoma"/>
              </a:rPr>
              <a:t> </a:t>
            </a:r>
            <a:r>
              <a:rPr sz="4000" b="1" spc="-55" dirty="0">
                <a:latin typeface="Tahoma"/>
                <a:cs typeface="Tahoma"/>
              </a:rPr>
              <a:t>Customers/End</a:t>
            </a:r>
            <a:r>
              <a:rPr sz="4000" b="1" spc="-240" dirty="0">
                <a:latin typeface="Tahoma"/>
                <a:cs typeface="Tahoma"/>
              </a:rPr>
              <a:t> </a:t>
            </a:r>
            <a:r>
              <a:rPr sz="4000" b="1" spc="-30" dirty="0">
                <a:latin typeface="Tahoma"/>
                <a:cs typeface="Tahoma"/>
              </a:rPr>
              <a:t>Recipients</a:t>
            </a:r>
            <a:endParaRPr sz="4000">
              <a:latin typeface="Tahoma"/>
              <a:cs typeface="Tahoma"/>
            </a:endParaRPr>
          </a:p>
          <a:p>
            <a:pPr>
              <a:lnSpc>
                <a:spcPct val="100000"/>
              </a:lnSpc>
              <a:spcBef>
                <a:spcPts val="20"/>
              </a:spcBef>
            </a:pPr>
            <a:endParaRPr sz="5200">
              <a:latin typeface="Tahoma"/>
              <a:cs typeface="Tahoma"/>
            </a:endParaRPr>
          </a:p>
          <a:p>
            <a:pPr marL="12700">
              <a:lnSpc>
                <a:spcPct val="100000"/>
              </a:lnSpc>
            </a:pPr>
            <a:r>
              <a:rPr sz="4000" b="1" spc="-15" dirty="0">
                <a:latin typeface="Tahoma"/>
                <a:cs typeface="Tahoma"/>
              </a:rPr>
              <a:t>Maintenance</a:t>
            </a:r>
            <a:r>
              <a:rPr sz="4000" b="1" spc="-254" dirty="0">
                <a:latin typeface="Tahoma"/>
                <a:cs typeface="Tahoma"/>
              </a:rPr>
              <a:t> </a:t>
            </a:r>
            <a:r>
              <a:rPr sz="4000" b="1" spc="-25" dirty="0">
                <a:latin typeface="Tahoma"/>
                <a:cs typeface="Tahoma"/>
              </a:rPr>
              <a:t>and</a:t>
            </a:r>
            <a:r>
              <a:rPr sz="4000" b="1" spc="-250" dirty="0">
                <a:latin typeface="Tahoma"/>
                <a:cs typeface="Tahoma"/>
              </a:rPr>
              <a:t> </a:t>
            </a:r>
            <a:r>
              <a:rPr sz="4000" b="1" spc="-5" dirty="0">
                <a:latin typeface="Tahoma"/>
                <a:cs typeface="Tahoma"/>
              </a:rPr>
              <a:t>Fleet</a:t>
            </a:r>
            <a:r>
              <a:rPr sz="4000" b="1" spc="-250" dirty="0">
                <a:latin typeface="Tahoma"/>
                <a:cs typeface="Tahoma"/>
              </a:rPr>
              <a:t> </a:t>
            </a:r>
            <a:r>
              <a:rPr sz="4000" b="1" spc="-55" dirty="0">
                <a:latin typeface="Tahoma"/>
                <a:cs typeface="Tahoma"/>
              </a:rPr>
              <a:t>Management</a:t>
            </a:r>
            <a:endParaRPr sz="4000">
              <a:latin typeface="Tahoma"/>
              <a:cs typeface="Tahoma"/>
            </a:endParaRPr>
          </a:p>
        </p:txBody>
      </p:sp>
      <p:pic>
        <p:nvPicPr>
          <p:cNvPr id="5" name="object 5"/>
          <p:cNvPicPr/>
          <p:nvPr/>
        </p:nvPicPr>
        <p:blipFill>
          <a:blip r:embed="rId2" cstate="print"/>
          <a:stretch>
            <a:fillRect/>
          </a:stretch>
        </p:blipFill>
        <p:spPr>
          <a:xfrm>
            <a:off x="1466849" y="4103061"/>
            <a:ext cx="180975" cy="180974"/>
          </a:xfrm>
          <a:prstGeom prst="rect">
            <a:avLst/>
          </a:prstGeom>
        </p:spPr>
      </p:pic>
      <p:pic>
        <p:nvPicPr>
          <p:cNvPr id="6" name="object 6"/>
          <p:cNvPicPr/>
          <p:nvPr/>
        </p:nvPicPr>
        <p:blipFill>
          <a:blip r:embed="rId2" cstate="print"/>
          <a:stretch>
            <a:fillRect/>
          </a:stretch>
        </p:blipFill>
        <p:spPr>
          <a:xfrm>
            <a:off x="1466849" y="5512761"/>
            <a:ext cx="180975" cy="180974"/>
          </a:xfrm>
          <a:prstGeom prst="rect">
            <a:avLst/>
          </a:prstGeom>
        </p:spPr>
      </p:pic>
      <p:pic>
        <p:nvPicPr>
          <p:cNvPr id="7" name="object 7"/>
          <p:cNvPicPr/>
          <p:nvPr/>
        </p:nvPicPr>
        <p:blipFill>
          <a:blip r:embed="rId2" cstate="print"/>
          <a:stretch>
            <a:fillRect/>
          </a:stretch>
        </p:blipFill>
        <p:spPr>
          <a:xfrm>
            <a:off x="1466849" y="6922461"/>
            <a:ext cx="180975" cy="180974"/>
          </a:xfrm>
          <a:prstGeom prst="rect">
            <a:avLst/>
          </a:prstGeom>
        </p:spPr>
      </p:pic>
      <p:pic>
        <p:nvPicPr>
          <p:cNvPr id="8" name="object 8"/>
          <p:cNvPicPr/>
          <p:nvPr/>
        </p:nvPicPr>
        <p:blipFill>
          <a:blip r:embed="rId3" cstate="print"/>
          <a:stretch>
            <a:fillRect/>
          </a:stretch>
        </p:blipFill>
        <p:spPr>
          <a:xfrm>
            <a:off x="1466849" y="8332161"/>
            <a:ext cx="180975" cy="180974"/>
          </a:xfrm>
          <a:prstGeom prst="rect">
            <a:avLst/>
          </a:prstGeom>
        </p:spPr>
      </p:pic>
      <p:pic>
        <p:nvPicPr>
          <p:cNvPr id="9" name="Picture 8"/>
          <p:cNvPicPr>
            <a:picLocks noChangeAspect="1"/>
          </p:cNvPicPr>
          <p:nvPr/>
        </p:nvPicPr>
        <p:blipFill>
          <a:blip r:embed="rId4"/>
          <a:stretch>
            <a:fillRect/>
          </a:stretch>
        </p:blipFill>
        <p:spPr>
          <a:xfrm>
            <a:off x="13915415" y="9133449"/>
            <a:ext cx="4372585" cy="1143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0162" y="587848"/>
            <a:ext cx="5972175" cy="883285"/>
          </a:xfrm>
          <a:prstGeom prst="rect">
            <a:avLst/>
          </a:prstGeom>
        </p:spPr>
        <p:txBody>
          <a:bodyPr vert="horz" wrap="square" lIns="0" tIns="15875" rIns="0" bIns="0" rtlCol="0">
            <a:spAutoFit/>
          </a:bodyPr>
          <a:lstStyle/>
          <a:p>
            <a:pPr marL="12700">
              <a:lnSpc>
                <a:spcPct val="100000"/>
              </a:lnSpc>
              <a:spcBef>
                <a:spcPts val="125"/>
              </a:spcBef>
            </a:pPr>
            <a:r>
              <a:rPr sz="5600" spc="-440" dirty="0">
                <a:solidFill>
                  <a:srgbClr val="081A9A"/>
                </a:solidFill>
              </a:rPr>
              <a:t>P</a:t>
            </a:r>
            <a:r>
              <a:rPr sz="5600" spc="-415" dirty="0">
                <a:solidFill>
                  <a:srgbClr val="081A9A"/>
                </a:solidFill>
              </a:rPr>
              <a:t>r</a:t>
            </a:r>
            <a:r>
              <a:rPr sz="5600" spc="-430" dirty="0">
                <a:solidFill>
                  <a:srgbClr val="081A9A"/>
                </a:solidFill>
              </a:rPr>
              <a:t>e</a:t>
            </a:r>
            <a:r>
              <a:rPr sz="5600" spc="-535" dirty="0">
                <a:solidFill>
                  <a:srgbClr val="081A9A"/>
                </a:solidFill>
              </a:rPr>
              <a:t>s</a:t>
            </a:r>
            <a:r>
              <a:rPr sz="5600" spc="-430" dirty="0">
                <a:solidFill>
                  <a:srgbClr val="081A9A"/>
                </a:solidFill>
              </a:rPr>
              <a:t>e</a:t>
            </a:r>
            <a:r>
              <a:rPr sz="5600" spc="-445" dirty="0">
                <a:solidFill>
                  <a:srgbClr val="081A9A"/>
                </a:solidFill>
              </a:rPr>
              <a:t>n</a:t>
            </a:r>
            <a:r>
              <a:rPr sz="5600" spc="-200" dirty="0">
                <a:solidFill>
                  <a:srgbClr val="081A9A"/>
                </a:solidFill>
              </a:rPr>
              <a:t>t</a:t>
            </a:r>
            <a:r>
              <a:rPr sz="5600" spc="-590" dirty="0">
                <a:solidFill>
                  <a:srgbClr val="081A9A"/>
                </a:solidFill>
              </a:rPr>
              <a:t> </a:t>
            </a:r>
            <a:r>
              <a:rPr sz="5600" spc="-535" dirty="0">
                <a:solidFill>
                  <a:srgbClr val="081A9A"/>
                </a:solidFill>
              </a:rPr>
              <a:t>S</a:t>
            </a:r>
            <a:r>
              <a:rPr sz="5600" spc="-175" dirty="0">
                <a:solidFill>
                  <a:srgbClr val="081A9A"/>
                </a:solidFill>
              </a:rPr>
              <a:t>c</a:t>
            </a:r>
            <a:r>
              <a:rPr sz="5600" spc="-430" dirty="0">
                <a:solidFill>
                  <a:srgbClr val="081A9A"/>
                </a:solidFill>
              </a:rPr>
              <a:t>e</a:t>
            </a:r>
            <a:r>
              <a:rPr sz="5600" spc="-445" dirty="0">
                <a:solidFill>
                  <a:srgbClr val="081A9A"/>
                </a:solidFill>
              </a:rPr>
              <a:t>n</a:t>
            </a:r>
            <a:r>
              <a:rPr sz="5600" spc="-550" dirty="0">
                <a:solidFill>
                  <a:srgbClr val="081A9A"/>
                </a:solidFill>
              </a:rPr>
              <a:t>a</a:t>
            </a:r>
            <a:r>
              <a:rPr sz="5600" spc="-415" dirty="0">
                <a:solidFill>
                  <a:srgbClr val="081A9A"/>
                </a:solidFill>
              </a:rPr>
              <a:t>r</a:t>
            </a:r>
            <a:r>
              <a:rPr sz="5600" spc="-290" dirty="0">
                <a:solidFill>
                  <a:srgbClr val="081A9A"/>
                </a:solidFill>
              </a:rPr>
              <a:t>i</a:t>
            </a:r>
            <a:r>
              <a:rPr sz="5600" spc="-325" dirty="0">
                <a:solidFill>
                  <a:srgbClr val="081A9A"/>
                </a:solidFill>
              </a:rPr>
              <a:t>o</a:t>
            </a:r>
            <a:endParaRPr sz="5600"/>
          </a:p>
        </p:txBody>
      </p:sp>
      <p:pic>
        <p:nvPicPr>
          <p:cNvPr id="3" name="object 3"/>
          <p:cNvPicPr/>
          <p:nvPr/>
        </p:nvPicPr>
        <p:blipFill>
          <a:blip r:embed="rId2" cstate="print"/>
          <a:stretch>
            <a:fillRect/>
          </a:stretch>
        </p:blipFill>
        <p:spPr>
          <a:xfrm>
            <a:off x="757864" y="2677806"/>
            <a:ext cx="180975" cy="180974"/>
          </a:xfrm>
          <a:prstGeom prst="rect">
            <a:avLst/>
          </a:prstGeom>
        </p:spPr>
      </p:pic>
      <p:sp>
        <p:nvSpPr>
          <p:cNvPr id="4" name="object 4"/>
          <p:cNvSpPr txBox="1"/>
          <p:nvPr/>
        </p:nvSpPr>
        <p:spPr>
          <a:xfrm>
            <a:off x="1170515" y="2433363"/>
            <a:ext cx="16840200" cy="5588000"/>
          </a:xfrm>
          <a:prstGeom prst="rect">
            <a:avLst/>
          </a:prstGeom>
        </p:spPr>
        <p:txBody>
          <a:bodyPr vert="horz" wrap="square" lIns="0" tIns="12700" rIns="0" bIns="0" rtlCol="0">
            <a:spAutoFit/>
          </a:bodyPr>
          <a:lstStyle/>
          <a:p>
            <a:pPr marL="12700">
              <a:lnSpc>
                <a:spcPct val="100000"/>
              </a:lnSpc>
              <a:spcBef>
                <a:spcPts val="100"/>
              </a:spcBef>
            </a:pPr>
            <a:r>
              <a:rPr sz="4000" spc="-95" dirty="0">
                <a:latin typeface="Lucida Sans Unicode"/>
                <a:cs typeface="Lucida Sans Unicode"/>
              </a:rPr>
              <a:t>Ongoing</a:t>
            </a:r>
            <a:r>
              <a:rPr sz="4000" spc="-290" dirty="0">
                <a:latin typeface="Lucida Sans Unicode"/>
                <a:cs typeface="Lucida Sans Unicode"/>
              </a:rPr>
              <a:t> </a:t>
            </a:r>
            <a:r>
              <a:rPr sz="4000" spc="65" dirty="0">
                <a:latin typeface="Lucida Sans Unicode"/>
                <a:cs typeface="Lucida Sans Unicode"/>
              </a:rPr>
              <a:t>contracts</a:t>
            </a:r>
            <a:r>
              <a:rPr sz="4000" spc="-285" dirty="0">
                <a:latin typeface="Lucida Sans Unicode"/>
                <a:cs typeface="Lucida Sans Unicode"/>
              </a:rPr>
              <a:t> </a:t>
            </a:r>
            <a:r>
              <a:rPr sz="4000" spc="40" dirty="0">
                <a:latin typeface="Lucida Sans Unicode"/>
                <a:cs typeface="Lucida Sans Unicode"/>
              </a:rPr>
              <a:t>need</a:t>
            </a:r>
            <a:r>
              <a:rPr sz="4000" spc="-285" dirty="0">
                <a:latin typeface="Lucida Sans Unicode"/>
                <a:cs typeface="Lucida Sans Unicode"/>
              </a:rPr>
              <a:t> </a:t>
            </a:r>
            <a:r>
              <a:rPr sz="4000" spc="20" dirty="0">
                <a:latin typeface="Lucida Sans Unicode"/>
                <a:cs typeface="Lucida Sans Unicode"/>
              </a:rPr>
              <a:t>reliable</a:t>
            </a:r>
            <a:r>
              <a:rPr sz="4000" spc="-290" dirty="0">
                <a:latin typeface="Lucida Sans Unicode"/>
                <a:cs typeface="Lucida Sans Unicode"/>
              </a:rPr>
              <a:t> </a:t>
            </a:r>
            <a:r>
              <a:rPr sz="4000" spc="20" dirty="0">
                <a:latin typeface="Lucida Sans Unicode"/>
                <a:cs typeface="Lucida Sans Unicode"/>
              </a:rPr>
              <a:t>and</a:t>
            </a:r>
            <a:r>
              <a:rPr sz="4000" spc="-285" dirty="0">
                <a:latin typeface="Lucida Sans Unicode"/>
                <a:cs typeface="Lucida Sans Unicode"/>
              </a:rPr>
              <a:t> </a:t>
            </a:r>
            <a:r>
              <a:rPr sz="4000" spc="-15" dirty="0">
                <a:latin typeface="Lucida Sans Unicode"/>
                <a:cs typeface="Lucida Sans Unicode"/>
              </a:rPr>
              <a:t>cost-efficient</a:t>
            </a:r>
            <a:r>
              <a:rPr sz="4000" spc="-285" dirty="0">
                <a:latin typeface="Lucida Sans Unicode"/>
                <a:cs typeface="Lucida Sans Unicode"/>
              </a:rPr>
              <a:t> </a:t>
            </a:r>
            <a:r>
              <a:rPr sz="4000" spc="30" dirty="0">
                <a:latin typeface="Lucida Sans Unicode"/>
                <a:cs typeface="Lucida Sans Unicode"/>
              </a:rPr>
              <a:t>delivery.</a:t>
            </a:r>
            <a:endParaRPr sz="4000" dirty="0">
              <a:latin typeface="Lucida Sans Unicode"/>
              <a:cs typeface="Lucida Sans Unicode"/>
            </a:endParaRPr>
          </a:p>
          <a:p>
            <a:pPr marL="12700" marR="5080">
              <a:lnSpc>
                <a:spcPct val="162500"/>
              </a:lnSpc>
            </a:pPr>
            <a:r>
              <a:rPr sz="4000" spc="-50" dirty="0">
                <a:latin typeface="Lucida Sans Unicode"/>
                <a:cs typeface="Lucida Sans Unicode"/>
              </a:rPr>
              <a:t>Complex</a:t>
            </a:r>
            <a:r>
              <a:rPr sz="4000" spc="-290" dirty="0">
                <a:latin typeface="Lucida Sans Unicode"/>
                <a:cs typeface="Lucida Sans Unicode"/>
              </a:rPr>
              <a:t> </a:t>
            </a:r>
            <a:r>
              <a:rPr sz="4000" dirty="0">
                <a:latin typeface="Lucida Sans Unicode"/>
                <a:cs typeface="Lucida Sans Unicode"/>
              </a:rPr>
              <a:t>distribution</a:t>
            </a:r>
            <a:r>
              <a:rPr sz="4000" spc="-285" dirty="0">
                <a:latin typeface="Lucida Sans Unicode"/>
                <a:cs typeface="Lucida Sans Unicode"/>
              </a:rPr>
              <a:t> </a:t>
            </a:r>
            <a:r>
              <a:rPr sz="4000" spc="-15" dirty="0">
                <a:latin typeface="Lucida Sans Unicode"/>
                <a:cs typeface="Lucida Sans Unicode"/>
              </a:rPr>
              <a:t>networks</a:t>
            </a:r>
            <a:r>
              <a:rPr sz="4000" spc="-285" dirty="0">
                <a:latin typeface="Lucida Sans Unicode"/>
                <a:cs typeface="Lucida Sans Unicode"/>
              </a:rPr>
              <a:t> </a:t>
            </a:r>
            <a:r>
              <a:rPr sz="4000" spc="40" dirty="0">
                <a:latin typeface="Lucida Sans Unicode"/>
                <a:cs typeface="Lucida Sans Unicode"/>
              </a:rPr>
              <a:t>need</a:t>
            </a:r>
            <a:r>
              <a:rPr sz="4000" spc="-290" dirty="0">
                <a:latin typeface="Lucida Sans Unicode"/>
                <a:cs typeface="Lucida Sans Unicode"/>
              </a:rPr>
              <a:t> </a:t>
            </a:r>
            <a:r>
              <a:rPr sz="4000" spc="40" dirty="0">
                <a:latin typeface="Lucida Sans Unicode"/>
                <a:cs typeface="Lucida Sans Unicode"/>
              </a:rPr>
              <a:t>careful</a:t>
            </a:r>
            <a:r>
              <a:rPr sz="4000" spc="-285" dirty="0">
                <a:latin typeface="Lucida Sans Unicode"/>
                <a:cs typeface="Lucida Sans Unicode"/>
              </a:rPr>
              <a:t> </a:t>
            </a:r>
            <a:r>
              <a:rPr sz="4000" spc="40" dirty="0">
                <a:latin typeface="Lucida Sans Unicode"/>
                <a:cs typeface="Lucida Sans Unicode"/>
              </a:rPr>
              <a:t>route</a:t>
            </a:r>
            <a:r>
              <a:rPr sz="4000" spc="-285" dirty="0">
                <a:latin typeface="Lucida Sans Unicode"/>
                <a:cs typeface="Lucida Sans Unicode"/>
              </a:rPr>
              <a:t> </a:t>
            </a:r>
            <a:r>
              <a:rPr sz="4000" spc="20" dirty="0">
                <a:latin typeface="Lucida Sans Unicode"/>
                <a:cs typeface="Lucida Sans Unicode"/>
              </a:rPr>
              <a:t>and</a:t>
            </a:r>
            <a:r>
              <a:rPr sz="4000" spc="-285" dirty="0">
                <a:latin typeface="Lucida Sans Unicode"/>
                <a:cs typeface="Lucida Sans Unicode"/>
              </a:rPr>
              <a:t> </a:t>
            </a:r>
            <a:r>
              <a:rPr sz="4000" spc="20" dirty="0">
                <a:latin typeface="Lucida Sans Unicode"/>
                <a:cs typeface="Lucida Sans Unicode"/>
              </a:rPr>
              <a:t>load</a:t>
            </a:r>
            <a:r>
              <a:rPr sz="4000" spc="-290" dirty="0">
                <a:latin typeface="Lucida Sans Unicode"/>
                <a:cs typeface="Lucida Sans Unicode"/>
              </a:rPr>
              <a:t> </a:t>
            </a:r>
            <a:r>
              <a:rPr sz="4000" spc="-60" dirty="0">
                <a:latin typeface="Lucida Sans Unicode"/>
                <a:cs typeface="Lucida Sans Unicode"/>
              </a:rPr>
              <a:t>planning. </a:t>
            </a:r>
            <a:r>
              <a:rPr sz="4000" spc="-1250" dirty="0">
                <a:latin typeface="Lucida Sans Unicode"/>
                <a:cs typeface="Lucida Sans Unicode"/>
              </a:rPr>
              <a:t> </a:t>
            </a:r>
            <a:r>
              <a:rPr sz="4000" spc="70" dirty="0">
                <a:latin typeface="Lucida Sans Unicode"/>
                <a:cs typeface="Lucida Sans Unicode"/>
              </a:rPr>
              <a:t>Some </a:t>
            </a:r>
            <a:r>
              <a:rPr sz="4000" spc="30" dirty="0">
                <a:latin typeface="Lucida Sans Unicode"/>
                <a:cs typeface="Lucida Sans Unicode"/>
              </a:rPr>
              <a:t>clients </a:t>
            </a:r>
            <a:r>
              <a:rPr sz="4000" spc="40" dirty="0">
                <a:latin typeface="Lucida Sans Unicode"/>
                <a:cs typeface="Lucida Sans Unicode"/>
              </a:rPr>
              <a:t>may need </a:t>
            </a:r>
            <a:r>
              <a:rPr sz="4000" spc="-25" dirty="0">
                <a:latin typeface="Lucida Sans Unicode"/>
                <a:cs typeface="Lucida Sans Unicode"/>
              </a:rPr>
              <a:t>customized </a:t>
            </a:r>
            <a:r>
              <a:rPr sz="4000" spc="60" dirty="0">
                <a:latin typeface="Lucida Sans Unicode"/>
                <a:cs typeface="Lucida Sans Unicode"/>
              </a:rPr>
              <a:t>delivery </a:t>
            </a:r>
            <a:r>
              <a:rPr sz="4000" spc="20" dirty="0">
                <a:latin typeface="Lucida Sans Unicode"/>
                <a:cs typeface="Lucida Sans Unicode"/>
              </a:rPr>
              <a:t>schedules </a:t>
            </a:r>
            <a:r>
              <a:rPr sz="4000" spc="15" dirty="0">
                <a:latin typeface="Lucida Sans Unicode"/>
                <a:cs typeface="Lucida Sans Unicode"/>
              </a:rPr>
              <a:t>or </a:t>
            </a:r>
            <a:r>
              <a:rPr sz="4000" spc="20" dirty="0">
                <a:latin typeface="Lucida Sans Unicode"/>
                <a:cs typeface="Lucida Sans Unicode"/>
              </a:rPr>
              <a:t>special </a:t>
            </a:r>
            <a:r>
              <a:rPr sz="4000" spc="25" dirty="0">
                <a:latin typeface="Lucida Sans Unicode"/>
                <a:cs typeface="Lucida Sans Unicode"/>
              </a:rPr>
              <a:t> </a:t>
            </a:r>
            <a:r>
              <a:rPr sz="4000" spc="-10" dirty="0">
                <a:latin typeface="Lucida Sans Unicode"/>
                <a:cs typeface="Lucida Sans Unicode"/>
              </a:rPr>
              <a:t>equipment.</a:t>
            </a:r>
            <a:endParaRPr sz="4000" dirty="0">
              <a:latin typeface="Lucida Sans Unicode"/>
              <a:cs typeface="Lucida Sans Unicode"/>
            </a:endParaRPr>
          </a:p>
          <a:p>
            <a:pPr marL="12700" marR="878205">
              <a:lnSpc>
                <a:spcPct val="162500"/>
              </a:lnSpc>
            </a:pPr>
            <a:r>
              <a:rPr sz="4000" spc="-15" dirty="0">
                <a:latin typeface="Lucida Sans Unicode"/>
                <a:cs typeface="Lucida Sans Unicode"/>
              </a:rPr>
              <a:t>Industry-specific</a:t>
            </a:r>
            <a:r>
              <a:rPr sz="4000" spc="-285" dirty="0">
                <a:latin typeface="Lucida Sans Unicode"/>
                <a:cs typeface="Lucida Sans Unicode"/>
              </a:rPr>
              <a:t> </a:t>
            </a:r>
            <a:r>
              <a:rPr sz="4000" dirty="0">
                <a:latin typeface="Lucida Sans Unicode"/>
                <a:cs typeface="Lucida Sans Unicode"/>
              </a:rPr>
              <a:t>rules</a:t>
            </a:r>
            <a:r>
              <a:rPr sz="4000" spc="-280" dirty="0">
                <a:latin typeface="Lucida Sans Unicode"/>
                <a:cs typeface="Lucida Sans Unicode"/>
              </a:rPr>
              <a:t> </a:t>
            </a:r>
            <a:r>
              <a:rPr sz="4000" spc="-145" dirty="0">
                <a:latin typeface="Lucida Sans Unicode"/>
                <a:cs typeface="Lucida Sans Unicode"/>
              </a:rPr>
              <a:t>(e.g.,</a:t>
            </a:r>
            <a:r>
              <a:rPr sz="4000" spc="-280" dirty="0">
                <a:latin typeface="Lucida Sans Unicode"/>
                <a:cs typeface="Lucida Sans Unicode"/>
              </a:rPr>
              <a:t> </a:t>
            </a:r>
            <a:r>
              <a:rPr sz="4000" spc="30" dirty="0">
                <a:latin typeface="Lucida Sans Unicode"/>
                <a:cs typeface="Lucida Sans Unicode"/>
              </a:rPr>
              <a:t>for</a:t>
            </a:r>
            <a:r>
              <a:rPr sz="4000" spc="-285" dirty="0">
                <a:latin typeface="Lucida Sans Unicode"/>
                <a:cs typeface="Lucida Sans Unicode"/>
              </a:rPr>
              <a:t> </a:t>
            </a:r>
            <a:r>
              <a:rPr sz="4000" spc="30" dirty="0">
                <a:latin typeface="Lucida Sans Unicode"/>
                <a:cs typeface="Lucida Sans Unicode"/>
              </a:rPr>
              <a:t>food</a:t>
            </a:r>
            <a:r>
              <a:rPr sz="4000" spc="-280" dirty="0">
                <a:latin typeface="Lucida Sans Unicode"/>
                <a:cs typeface="Lucida Sans Unicode"/>
              </a:rPr>
              <a:t> </a:t>
            </a:r>
            <a:r>
              <a:rPr sz="4000" spc="15" dirty="0">
                <a:latin typeface="Lucida Sans Unicode"/>
                <a:cs typeface="Lucida Sans Unicode"/>
              </a:rPr>
              <a:t>or</a:t>
            </a:r>
            <a:r>
              <a:rPr sz="4000" spc="-280" dirty="0">
                <a:latin typeface="Lucida Sans Unicode"/>
                <a:cs typeface="Lucida Sans Unicode"/>
              </a:rPr>
              <a:t> </a:t>
            </a:r>
            <a:r>
              <a:rPr sz="4000" spc="10" dirty="0">
                <a:latin typeface="Lucida Sans Unicode"/>
                <a:cs typeface="Lucida Sans Unicode"/>
              </a:rPr>
              <a:t>medicine)</a:t>
            </a:r>
            <a:r>
              <a:rPr sz="4000" spc="-280" dirty="0">
                <a:latin typeface="Lucida Sans Unicode"/>
                <a:cs typeface="Lucida Sans Unicode"/>
              </a:rPr>
              <a:t> </a:t>
            </a:r>
            <a:r>
              <a:rPr sz="4000" spc="-85" dirty="0">
                <a:latin typeface="Lucida Sans Unicode"/>
                <a:cs typeface="Lucida Sans Unicode"/>
              </a:rPr>
              <a:t>make</a:t>
            </a:r>
            <a:r>
              <a:rPr sz="4000" spc="-285" dirty="0">
                <a:latin typeface="Lucida Sans Unicode"/>
                <a:cs typeface="Lucida Sans Unicode"/>
              </a:rPr>
              <a:t> </a:t>
            </a:r>
            <a:r>
              <a:rPr sz="4000" spc="35" dirty="0">
                <a:latin typeface="Lucida Sans Unicode"/>
                <a:cs typeface="Lucida Sans Unicode"/>
              </a:rPr>
              <a:t>transport </a:t>
            </a:r>
            <a:r>
              <a:rPr sz="4000" spc="-1250" dirty="0">
                <a:latin typeface="Lucida Sans Unicode"/>
                <a:cs typeface="Lucida Sans Unicode"/>
              </a:rPr>
              <a:t> </a:t>
            </a:r>
            <a:r>
              <a:rPr sz="4000" spc="5" dirty="0">
                <a:latin typeface="Lucida Sans Unicode"/>
                <a:cs typeface="Lucida Sans Unicode"/>
              </a:rPr>
              <a:t>more</a:t>
            </a:r>
            <a:r>
              <a:rPr sz="4000" spc="-295" dirty="0">
                <a:latin typeface="Lucida Sans Unicode"/>
                <a:cs typeface="Lucida Sans Unicode"/>
              </a:rPr>
              <a:t> </a:t>
            </a:r>
            <a:r>
              <a:rPr sz="4000" spc="-55" dirty="0">
                <a:latin typeface="Lucida Sans Unicode"/>
                <a:cs typeface="Lucida Sans Unicode"/>
              </a:rPr>
              <a:t>complex.</a:t>
            </a:r>
            <a:endParaRPr sz="4000" dirty="0">
              <a:latin typeface="Lucida Sans Unicode"/>
              <a:cs typeface="Lucida Sans Unicode"/>
            </a:endParaRPr>
          </a:p>
        </p:txBody>
      </p:sp>
      <p:pic>
        <p:nvPicPr>
          <p:cNvPr id="5" name="object 5"/>
          <p:cNvPicPr/>
          <p:nvPr/>
        </p:nvPicPr>
        <p:blipFill>
          <a:blip r:embed="rId2" cstate="print"/>
          <a:stretch>
            <a:fillRect/>
          </a:stretch>
        </p:blipFill>
        <p:spPr>
          <a:xfrm>
            <a:off x="757864" y="3668406"/>
            <a:ext cx="180975" cy="180974"/>
          </a:xfrm>
          <a:prstGeom prst="rect">
            <a:avLst/>
          </a:prstGeom>
        </p:spPr>
      </p:pic>
      <p:pic>
        <p:nvPicPr>
          <p:cNvPr id="6" name="object 6"/>
          <p:cNvPicPr/>
          <p:nvPr/>
        </p:nvPicPr>
        <p:blipFill>
          <a:blip r:embed="rId2" cstate="print"/>
          <a:stretch>
            <a:fillRect/>
          </a:stretch>
        </p:blipFill>
        <p:spPr>
          <a:xfrm>
            <a:off x="757864" y="4659006"/>
            <a:ext cx="180975" cy="180974"/>
          </a:xfrm>
          <a:prstGeom prst="rect">
            <a:avLst/>
          </a:prstGeom>
        </p:spPr>
      </p:pic>
      <p:pic>
        <p:nvPicPr>
          <p:cNvPr id="7" name="object 7"/>
          <p:cNvPicPr/>
          <p:nvPr/>
        </p:nvPicPr>
        <p:blipFill>
          <a:blip r:embed="rId3" cstate="print"/>
          <a:stretch>
            <a:fillRect/>
          </a:stretch>
        </p:blipFill>
        <p:spPr>
          <a:xfrm>
            <a:off x="757864" y="6640206"/>
            <a:ext cx="180975" cy="180974"/>
          </a:xfrm>
          <a:prstGeom prst="rect">
            <a:avLst/>
          </a:prstGeom>
        </p:spPr>
      </p:pic>
      <p:pic>
        <p:nvPicPr>
          <p:cNvPr id="8" name="Picture 7"/>
          <p:cNvPicPr>
            <a:picLocks noChangeAspect="1"/>
          </p:cNvPicPr>
          <p:nvPr/>
        </p:nvPicPr>
        <p:blipFill>
          <a:blip r:embed="rId4"/>
          <a:stretch>
            <a:fillRect/>
          </a:stretch>
        </p:blipFill>
        <p:spPr>
          <a:xfrm>
            <a:off x="13915415" y="9119595"/>
            <a:ext cx="4372585" cy="11431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5666" y="2584605"/>
            <a:ext cx="180975" cy="180974"/>
          </a:xfrm>
          <a:prstGeom prst="rect">
            <a:avLst/>
          </a:prstGeom>
        </p:spPr>
      </p:pic>
      <p:sp>
        <p:nvSpPr>
          <p:cNvPr id="3" name="object 3"/>
          <p:cNvSpPr txBox="1"/>
          <p:nvPr/>
        </p:nvSpPr>
        <p:spPr>
          <a:xfrm>
            <a:off x="913377" y="2131164"/>
            <a:ext cx="17151985" cy="6578600"/>
          </a:xfrm>
          <a:prstGeom prst="rect">
            <a:avLst/>
          </a:prstGeom>
        </p:spPr>
        <p:txBody>
          <a:bodyPr vert="horz" wrap="square" lIns="0" tIns="12065" rIns="0" bIns="0" rtlCol="0">
            <a:spAutoFit/>
          </a:bodyPr>
          <a:lstStyle/>
          <a:p>
            <a:pPr marL="12700" marR="1062355">
              <a:lnSpc>
                <a:spcPct val="134400"/>
              </a:lnSpc>
              <a:spcBef>
                <a:spcPts val="95"/>
              </a:spcBef>
            </a:pPr>
            <a:r>
              <a:rPr sz="4000" spc="-80" dirty="0">
                <a:latin typeface="Verdana"/>
                <a:cs typeface="Verdana"/>
              </a:rPr>
              <a:t>The</a:t>
            </a:r>
            <a:r>
              <a:rPr sz="4000" spc="-425" dirty="0">
                <a:latin typeface="Verdana"/>
                <a:cs typeface="Verdana"/>
              </a:rPr>
              <a:t> </a:t>
            </a:r>
            <a:r>
              <a:rPr sz="4000" spc="-10" dirty="0">
                <a:latin typeface="Verdana"/>
                <a:cs typeface="Verdana"/>
              </a:rPr>
              <a:t>hub</a:t>
            </a:r>
            <a:r>
              <a:rPr sz="4000" spc="-420" dirty="0">
                <a:latin typeface="Verdana"/>
                <a:cs typeface="Verdana"/>
              </a:rPr>
              <a:t> </a:t>
            </a:r>
            <a:r>
              <a:rPr sz="4000" spc="-75" dirty="0">
                <a:latin typeface="Verdana"/>
                <a:cs typeface="Verdana"/>
              </a:rPr>
              <a:t>serves</a:t>
            </a:r>
            <a:r>
              <a:rPr sz="4000" spc="-420" dirty="0">
                <a:latin typeface="Verdana"/>
                <a:cs typeface="Verdana"/>
              </a:rPr>
              <a:t> </a:t>
            </a:r>
            <a:r>
              <a:rPr sz="4000" spc="-125" dirty="0">
                <a:latin typeface="Verdana"/>
                <a:cs typeface="Verdana"/>
              </a:rPr>
              <a:t>as</a:t>
            </a:r>
            <a:r>
              <a:rPr sz="4000" spc="-420" dirty="0">
                <a:latin typeface="Verdana"/>
                <a:cs typeface="Verdana"/>
              </a:rPr>
              <a:t> </a:t>
            </a:r>
            <a:r>
              <a:rPr sz="4000" spc="-20" dirty="0">
                <a:latin typeface="Verdana"/>
                <a:cs typeface="Verdana"/>
              </a:rPr>
              <a:t>the</a:t>
            </a:r>
            <a:r>
              <a:rPr sz="4000" spc="-420" dirty="0">
                <a:latin typeface="Verdana"/>
                <a:cs typeface="Verdana"/>
              </a:rPr>
              <a:t> </a:t>
            </a:r>
            <a:r>
              <a:rPr sz="4000" spc="-5" dirty="0">
                <a:latin typeface="Verdana"/>
                <a:cs typeface="Verdana"/>
              </a:rPr>
              <a:t>central</a:t>
            </a:r>
            <a:r>
              <a:rPr sz="4000" spc="-425" dirty="0">
                <a:latin typeface="Verdana"/>
                <a:cs typeface="Verdana"/>
              </a:rPr>
              <a:t> </a:t>
            </a:r>
            <a:r>
              <a:rPr sz="4000" spc="25" dirty="0">
                <a:latin typeface="Verdana"/>
                <a:cs typeface="Verdana"/>
              </a:rPr>
              <a:t>point</a:t>
            </a:r>
            <a:r>
              <a:rPr sz="4000" spc="-420" dirty="0">
                <a:latin typeface="Verdana"/>
                <a:cs typeface="Verdana"/>
              </a:rPr>
              <a:t> </a:t>
            </a:r>
            <a:r>
              <a:rPr sz="4000" spc="50" dirty="0">
                <a:latin typeface="Verdana"/>
                <a:cs typeface="Verdana"/>
              </a:rPr>
              <a:t>for</a:t>
            </a:r>
            <a:r>
              <a:rPr sz="4000" spc="-420" dirty="0">
                <a:latin typeface="Verdana"/>
                <a:cs typeface="Verdana"/>
              </a:rPr>
              <a:t> </a:t>
            </a:r>
            <a:r>
              <a:rPr sz="4000" spc="10" dirty="0">
                <a:latin typeface="Verdana"/>
                <a:cs typeface="Verdana"/>
              </a:rPr>
              <a:t>collecting</a:t>
            </a:r>
            <a:r>
              <a:rPr sz="4000" spc="-420" dirty="0">
                <a:latin typeface="Verdana"/>
                <a:cs typeface="Verdana"/>
              </a:rPr>
              <a:t> </a:t>
            </a:r>
            <a:r>
              <a:rPr sz="4000" spc="-40" dirty="0">
                <a:latin typeface="Verdana"/>
                <a:cs typeface="Verdana"/>
              </a:rPr>
              <a:t>and</a:t>
            </a:r>
            <a:r>
              <a:rPr sz="4000" spc="-425" dirty="0">
                <a:latin typeface="Verdana"/>
                <a:cs typeface="Verdana"/>
              </a:rPr>
              <a:t> </a:t>
            </a:r>
            <a:r>
              <a:rPr sz="4000" spc="-25" dirty="0">
                <a:latin typeface="Verdana"/>
                <a:cs typeface="Verdana"/>
              </a:rPr>
              <a:t>distributing </a:t>
            </a:r>
            <a:r>
              <a:rPr sz="4000" spc="-1390" dirty="0">
                <a:latin typeface="Verdana"/>
                <a:cs typeface="Verdana"/>
              </a:rPr>
              <a:t> </a:t>
            </a:r>
            <a:r>
              <a:rPr sz="4000" spc="-35" dirty="0">
                <a:latin typeface="Verdana"/>
                <a:cs typeface="Verdana"/>
              </a:rPr>
              <a:t>goods</a:t>
            </a:r>
            <a:r>
              <a:rPr sz="4000" spc="-425" dirty="0">
                <a:latin typeface="Verdana"/>
                <a:cs typeface="Verdana"/>
              </a:rPr>
              <a:t> </a:t>
            </a:r>
            <a:r>
              <a:rPr sz="4000" spc="60" dirty="0">
                <a:latin typeface="Verdana"/>
                <a:cs typeface="Verdana"/>
              </a:rPr>
              <a:t>to</a:t>
            </a:r>
            <a:r>
              <a:rPr sz="4000" spc="-425" dirty="0">
                <a:latin typeface="Verdana"/>
                <a:cs typeface="Verdana"/>
              </a:rPr>
              <a:t> </a:t>
            </a:r>
            <a:r>
              <a:rPr sz="4000" spc="-10" dirty="0">
                <a:latin typeface="Verdana"/>
                <a:cs typeface="Verdana"/>
              </a:rPr>
              <a:t>multiple</a:t>
            </a:r>
            <a:r>
              <a:rPr sz="4000" spc="-425" dirty="0">
                <a:latin typeface="Verdana"/>
                <a:cs typeface="Verdana"/>
              </a:rPr>
              <a:t> </a:t>
            </a:r>
            <a:r>
              <a:rPr sz="4000" spc="-80" dirty="0">
                <a:latin typeface="Verdana"/>
                <a:cs typeface="Verdana"/>
              </a:rPr>
              <a:t>spokes</a:t>
            </a:r>
            <a:r>
              <a:rPr sz="4000" spc="-425" dirty="0">
                <a:latin typeface="Verdana"/>
                <a:cs typeface="Verdana"/>
              </a:rPr>
              <a:t> </a:t>
            </a:r>
            <a:r>
              <a:rPr sz="4000" spc="-20" dirty="0">
                <a:latin typeface="Verdana"/>
                <a:cs typeface="Verdana"/>
              </a:rPr>
              <a:t>efficiently.</a:t>
            </a:r>
            <a:endParaRPr sz="4000" dirty="0">
              <a:latin typeface="Verdana"/>
              <a:cs typeface="Verdana"/>
            </a:endParaRPr>
          </a:p>
          <a:p>
            <a:pPr marL="12700" marR="793115">
              <a:lnSpc>
                <a:spcPts val="6450"/>
              </a:lnSpc>
              <a:spcBef>
                <a:spcPts val="489"/>
              </a:spcBef>
            </a:pPr>
            <a:r>
              <a:rPr sz="4000" spc="-125" dirty="0">
                <a:latin typeface="Verdana"/>
                <a:cs typeface="Verdana"/>
              </a:rPr>
              <a:t>T</a:t>
            </a:r>
            <a:r>
              <a:rPr sz="4000" spc="-40" dirty="0">
                <a:latin typeface="Verdana"/>
                <a:cs typeface="Verdana"/>
              </a:rPr>
              <a:t>r</a:t>
            </a:r>
            <a:r>
              <a:rPr sz="4000" spc="-75" dirty="0">
                <a:latin typeface="Verdana"/>
                <a:cs typeface="Verdana"/>
              </a:rPr>
              <a:t>u</a:t>
            </a:r>
            <a:r>
              <a:rPr sz="4000" spc="140" dirty="0">
                <a:latin typeface="Verdana"/>
                <a:cs typeface="Verdana"/>
              </a:rPr>
              <a:t>c</a:t>
            </a:r>
            <a:r>
              <a:rPr sz="4000" spc="-360" dirty="0">
                <a:latin typeface="Verdana"/>
                <a:cs typeface="Verdana"/>
              </a:rPr>
              <a:t>k</a:t>
            </a:r>
            <a:r>
              <a:rPr sz="4000" spc="-85" dirty="0">
                <a:latin typeface="Verdana"/>
                <a:cs typeface="Verdana"/>
              </a:rPr>
              <a:t>s</a:t>
            </a:r>
            <a:r>
              <a:rPr sz="4000" spc="-425" dirty="0">
                <a:latin typeface="Verdana"/>
                <a:cs typeface="Verdana"/>
              </a:rPr>
              <a:t> </a:t>
            </a:r>
            <a:r>
              <a:rPr sz="4000" spc="-170" dirty="0">
                <a:latin typeface="Verdana"/>
                <a:cs typeface="Verdana"/>
              </a:rPr>
              <a:t>a</a:t>
            </a:r>
            <a:r>
              <a:rPr sz="4000" spc="-40" dirty="0">
                <a:latin typeface="Verdana"/>
                <a:cs typeface="Verdana"/>
              </a:rPr>
              <a:t>r</a:t>
            </a:r>
            <a:r>
              <a:rPr sz="4000" spc="-75" dirty="0">
                <a:latin typeface="Verdana"/>
                <a:cs typeface="Verdana"/>
              </a:rPr>
              <a:t>e</a:t>
            </a:r>
            <a:r>
              <a:rPr sz="4000" spc="-425" dirty="0">
                <a:latin typeface="Verdana"/>
                <a:cs typeface="Verdana"/>
              </a:rPr>
              <a:t> </a:t>
            </a:r>
            <a:r>
              <a:rPr sz="4000" spc="75" dirty="0">
                <a:latin typeface="Verdana"/>
                <a:cs typeface="Verdana"/>
              </a:rPr>
              <a:t>l</a:t>
            </a:r>
            <a:r>
              <a:rPr sz="4000" spc="50" dirty="0">
                <a:latin typeface="Verdana"/>
                <a:cs typeface="Verdana"/>
              </a:rPr>
              <a:t>o</a:t>
            </a:r>
            <a:r>
              <a:rPr sz="4000" spc="-170" dirty="0">
                <a:latin typeface="Verdana"/>
                <a:cs typeface="Verdana"/>
              </a:rPr>
              <a:t>a</a:t>
            </a:r>
            <a:r>
              <a:rPr sz="4000" spc="85" dirty="0">
                <a:latin typeface="Verdana"/>
                <a:cs typeface="Verdana"/>
              </a:rPr>
              <a:t>d</a:t>
            </a:r>
            <a:r>
              <a:rPr sz="4000" spc="-80" dirty="0">
                <a:latin typeface="Verdana"/>
                <a:cs typeface="Verdana"/>
              </a:rPr>
              <a:t>e</a:t>
            </a:r>
            <a:r>
              <a:rPr sz="4000" spc="90" dirty="0">
                <a:latin typeface="Verdana"/>
                <a:cs typeface="Verdana"/>
              </a:rPr>
              <a:t>d</a:t>
            </a:r>
            <a:r>
              <a:rPr sz="4000" spc="-425" dirty="0">
                <a:latin typeface="Verdana"/>
                <a:cs typeface="Verdana"/>
              </a:rPr>
              <a:t> </a:t>
            </a:r>
            <a:r>
              <a:rPr sz="4000" spc="-170" dirty="0">
                <a:latin typeface="Verdana"/>
                <a:cs typeface="Verdana"/>
              </a:rPr>
              <a:t>a</a:t>
            </a:r>
            <a:r>
              <a:rPr sz="4000" spc="-45" dirty="0">
                <a:latin typeface="Verdana"/>
                <a:cs typeface="Verdana"/>
              </a:rPr>
              <a:t>n</a:t>
            </a:r>
            <a:r>
              <a:rPr sz="4000" spc="90" dirty="0">
                <a:latin typeface="Verdana"/>
                <a:cs typeface="Verdana"/>
              </a:rPr>
              <a:t>d</a:t>
            </a:r>
            <a:r>
              <a:rPr sz="4000" spc="-425" dirty="0">
                <a:latin typeface="Verdana"/>
                <a:cs typeface="Verdana"/>
              </a:rPr>
              <a:t> </a:t>
            </a:r>
            <a:r>
              <a:rPr sz="4000" spc="-170" dirty="0">
                <a:latin typeface="Verdana"/>
                <a:cs typeface="Verdana"/>
              </a:rPr>
              <a:t>a</a:t>
            </a:r>
            <a:r>
              <a:rPr sz="4000" spc="-90" dirty="0">
                <a:latin typeface="Verdana"/>
                <a:cs typeface="Verdana"/>
              </a:rPr>
              <a:t>ss</a:t>
            </a:r>
            <a:r>
              <a:rPr sz="4000" spc="-30" dirty="0">
                <a:latin typeface="Verdana"/>
                <a:cs typeface="Verdana"/>
              </a:rPr>
              <a:t>i</a:t>
            </a:r>
            <a:r>
              <a:rPr sz="4000" spc="-280" dirty="0">
                <a:latin typeface="Verdana"/>
                <a:cs typeface="Verdana"/>
              </a:rPr>
              <a:t>g</a:t>
            </a:r>
            <a:r>
              <a:rPr sz="4000" spc="-45" dirty="0">
                <a:latin typeface="Verdana"/>
                <a:cs typeface="Verdana"/>
              </a:rPr>
              <a:t>n</a:t>
            </a:r>
            <a:r>
              <a:rPr sz="4000" spc="-80" dirty="0">
                <a:latin typeface="Verdana"/>
                <a:cs typeface="Verdana"/>
              </a:rPr>
              <a:t>e</a:t>
            </a:r>
            <a:r>
              <a:rPr sz="4000" spc="90" dirty="0">
                <a:latin typeface="Verdana"/>
                <a:cs typeface="Verdana"/>
              </a:rPr>
              <a:t>d</a:t>
            </a:r>
            <a:r>
              <a:rPr sz="4000" spc="-425" dirty="0">
                <a:latin typeface="Verdana"/>
                <a:cs typeface="Verdana"/>
              </a:rPr>
              <a:t> </a:t>
            </a:r>
            <a:r>
              <a:rPr sz="4000" spc="-40" dirty="0">
                <a:latin typeface="Verdana"/>
                <a:cs typeface="Verdana"/>
              </a:rPr>
              <a:t>r</a:t>
            </a:r>
            <a:r>
              <a:rPr sz="4000" spc="50" dirty="0">
                <a:latin typeface="Verdana"/>
                <a:cs typeface="Verdana"/>
              </a:rPr>
              <a:t>o</a:t>
            </a:r>
            <a:r>
              <a:rPr sz="4000" spc="-75" dirty="0">
                <a:latin typeface="Verdana"/>
                <a:cs typeface="Verdana"/>
              </a:rPr>
              <a:t>u</a:t>
            </a:r>
            <a:r>
              <a:rPr sz="4000" spc="65" dirty="0">
                <a:latin typeface="Verdana"/>
                <a:cs typeface="Verdana"/>
              </a:rPr>
              <a:t>t</a:t>
            </a:r>
            <a:r>
              <a:rPr sz="4000" spc="-80" dirty="0">
                <a:latin typeface="Verdana"/>
                <a:cs typeface="Verdana"/>
              </a:rPr>
              <a:t>e</a:t>
            </a:r>
            <a:r>
              <a:rPr sz="4000" spc="-85" dirty="0">
                <a:latin typeface="Verdana"/>
                <a:cs typeface="Verdana"/>
              </a:rPr>
              <a:t>s</a:t>
            </a:r>
            <a:r>
              <a:rPr sz="4000" spc="-425" dirty="0">
                <a:latin typeface="Verdana"/>
                <a:cs typeface="Verdana"/>
              </a:rPr>
              <a:t> </a:t>
            </a:r>
            <a:r>
              <a:rPr sz="4000" spc="-170" dirty="0">
                <a:latin typeface="Verdana"/>
                <a:cs typeface="Verdana"/>
              </a:rPr>
              <a:t>a</a:t>
            </a:r>
            <a:r>
              <a:rPr sz="4000" spc="70" dirty="0">
                <a:latin typeface="Verdana"/>
                <a:cs typeface="Verdana"/>
              </a:rPr>
              <a:t>t</a:t>
            </a:r>
            <a:r>
              <a:rPr sz="4000" spc="-425" dirty="0">
                <a:latin typeface="Verdana"/>
                <a:cs typeface="Verdana"/>
              </a:rPr>
              <a:t> </a:t>
            </a:r>
            <a:r>
              <a:rPr sz="4000" spc="65" dirty="0">
                <a:latin typeface="Verdana"/>
                <a:cs typeface="Verdana"/>
              </a:rPr>
              <a:t>t</a:t>
            </a:r>
            <a:r>
              <a:rPr sz="4000" spc="-45" dirty="0">
                <a:latin typeface="Verdana"/>
                <a:cs typeface="Verdana"/>
              </a:rPr>
              <a:t>h</a:t>
            </a:r>
            <a:r>
              <a:rPr sz="4000" spc="-75" dirty="0">
                <a:latin typeface="Verdana"/>
                <a:cs typeface="Verdana"/>
              </a:rPr>
              <a:t>e</a:t>
            </a:r>
            <a:r>
              <a:rPr sz="4000" spc="-425" dirty="0">
                <a:latin typeface="Verdana"/>
                <a:cs typeface="Verdana"/>
              </a:rPr>
              <a:t> </a:t>
            </a:r>
            <a:r>
              <a:rPr sz="4000" spc="-45" dirty="0">
                <a:latin typeface="Verdana"/>
                <a:cs typeface="Verdana"/>
              </a:rPr>
              <a:t>h</a:t>
            </a:r>
            <a:r>
              <a:rPr sz="4000" spc="-75" dirty="0">
                <a:latin typeface="Verdana"/>
                <a:cs typeface="Verdana"/>
              </a:rPr>
              <a:t>u</a:t>
            </a:r>
            <a:r>
              <a:rPr sz="4000" spc="85" dirty="0">
                <a:latin typeface="Verdana"/>
                <a:cs typeface="Verdana"/>
              </a:rPr>
              <a:t>b</a:t>
            </a:r>
            <a:r>
              <a:rPr sz="4000" spc="-390" dirty="0">
                <a:latin typeface="Verdana"/>
                <a:cs typeface="Verdana"/>
              </a:rPr>
              <a:t>,</a:t>
            </a:r>
            <a:r>
              <a:rPr sz="4000" spc="-425" dirty="0">
                <a:latin typeface="Verdana"/>
                <a:cs typeface="Verdana"/>
              </a:rPr>
              <a:t> </a:t>
            </a:r>
            <a:r>
              <a:rPr sz="4000" spc="-204" dirty="0">
                <a:latin typeface="Verdana"/>
                <a:cs typeface="Verdana"/>
              </a:rPr>
              <a:t>m</a:t>
            </a:r>
            <a:r>
              <a:rPr sz="4000" spc="-170" dirty="0">
                <a:latin typeface="Verdana"/>
                <a:cs typeface="Verdana"/>
              </a:rPr>
              <a:t>a</a:t>
            </a:r>
            <a:r>
              <a:rPr sz="4000" spc="-355" dirty="0">
                <a:latin typeface="Verdana"/>
                <a:cs typeface="Verdana"/>
              </a:rPr>
              <a:t>x</a:t>
            </a:r>
            <a:r>
              <a:rPr sz="4000" spc="-30" dirty="0">
                <a:latin typeface="Verdana"/>
                <a:cs typeface="Verdana"/>
              </a:rPr>
              <a:t>i</a:t>
            </a:r>
            <a:r>
              <a:rPr sz="4000" spc="-204" dirty="0">
                <a:latin typeface="Verdana"/>
                <a:cs typeface="Verdana"/>
              </a:rPr>
              <a:t>m</a:t>
            </a:r>
            <a:r>
              <a:rPr sz="4000" spc="-30" dirty="0">
                <a:latin typeface="Verdana"/>
                <a:cs typeface="Verdana"/>
              </a:rPr>
              <a:t>i</a:t>
            </a:r>
            <a:r>
              <a:rPr sz="4000" spc="-220" dirty="0">
                <a:latin typeface="Verdana"/>
                <a:cs typeface="Verdana"/>
              </a:rPr>
              <a:t>z</a:t>
            </a:r>
            <a:r>
              <a:rPr sz="4000" spc="-30" dirty="0">
                <a:latin typeface="Verdana"/>
                <a:cs typeface="Verdana"/>
              </a:rPr>
              <a:t>i</a:t>
            </a:r>
            <a:r>
              <a:rPr sz="4000" spc="-45" dirty="0">
                <a:latin typeface="Verdana"/>
                <a:cs typeface="Verdana"/>
              </a:rPr>
              <a:t>n</a:t>
            </a:r>
            <a:r>
              <a:rPr sz="4000" spc="-275" dirty="0">
                <a:latin typeface="Verdana"/>
                <a:cs typeface="Verdana"/>
              </a:rPr>
              <a:t>g</a:t>
            </a:r>
            <a:r>
              <a:rPr sz="4000" spc="-425" dirty="0">
                <a:latin typeface="Verdana"/>
                <a:cs typeface="Verdana"/>
              </a:rPr>
              <a:t> </a:t>
            </a:r>
            <a:r>
              <a:rPr sz="4000" spc="65" dirty="0">
                <a:latin typeface="Verdana"/>
                <a:cs typeface="Verdana"/>
              </a:rPr>
              <a:t>t</a:t>
            </a:r>
            <a:r>
              <a:rPr sz="4000" spc="-45" dirty="0">
                <a:latin typeface="Verdana"/>
                <a:cs typeface="Verdana"/>
              </a:rPr>
              <a:t>h</a:t>
            </a:r>
            <a:r>
              <a:rPr sz="4000" spc="-80" dirty="0">
                <a:latin typeface="Verdana"/>
                <a:cs typeface="Verdana"/>
              </a:rPr>
              <a:t>e</a:t>
            </a:r>
            <a:r>
              <a:rPr sz="4000" spc="-30" dirty="0">
                <a:latin typeface="Verdana"/>
                <a:cs typeface="Verdana"/>
              </a:rPr>
              <a:t>ir  </a:t>
            </a:r>
            <a:r>
              <a:rPr sz="4000" spc="140" dirty="0">
                <a:latin typeface="Verdana"/>
                <a:cs typeface="Verdana"/>
              </a:rPr>
              <a:t>c</a:t>
            </a:r>
            <a:r>
              <a:rPr sz="4000" spc="-170" dirty="0">
                <a:latin typeface="Verdana"/>
                <a:cs typeface="Verdana"/>
              </a:rPr>
              <a:t>a</a:t>
            </a:r>
            <a:r>
              <a:rPr sz="4000" spc="85" dirty="0">
                <a:latin typeface="Verdana"/>
                <a:cs typeface="Verdana"/>
              </a:rPr>
              <a:t>p</a:t>
            </a:r>
            <a:r>
              <a:rPr sz="4000" spc="-170" dirty="0">
                <a:latin typeface="Verdana"/>
                <a:cs typeface="Verdana"/>
              </a:rPr>
              <a:t>a</a:t>
            </a:r>
            <a:r>
              <a:rPr sz="4000" spc="140" dirty="0">
                <a:latin typeface="Verdana"/>
                <a:cs typeface="Verdana"/>
              </a:rPr>
              <a:t>c</a:t>
            </a:r>
            <a:r>
              <a:rPr sz="4000" spc="-30" dirty="0">
                <a:latin typeface="Verdana"/>
                <a:cs typeface="Verdana"/>
              </a:rPr>
              <a:t>i</a:t>
            </a:r>
            <a:r>
              <a:rPr sz="4000" spc="65" dirty="0">
                <a:latin typeface="Verdana"/>
                <a:cs typeface="Verdana"/>
              </a:rPr>
              <a:t>t</a:t>
            </a:r>
            <a:r>
              <a:rPr sz="4000" spc="-85" dirty="0">
                <a:latin typeface="Verdana"/>
                <a:cs typeface="Verdana"/>
              </a:rPr>
              <a:t>y</a:t>
            </a:r>
            <a:r>
              <a:rPr sz="4000" spc="-425" dirty="0">
                <a:latin typeface="Verdana"/>
                <a:cs typeface="Verdana"/>
              </a:rPr>
              <a:t> </a:t>
            </a:r>
            <a:r>
              <a:rPr sz="4000" spc="-170" dirty="0">
                <a:latin typeface="Verdana"/>
                <a:cs typeface="Verdana"/>
              </a:rPr>
              <a:t>a</a:t>
            </a:r>
            <a:r>
              <a:rPr sz="4000" spc="-45" dirty="0">
                <a:latin typeface="Verdana"/>
                <a:cs typeface="Verdana"/>
              </a:rPr>
              <a:t>n</a:t>
            </a:r>
            <a:r>
              <a:rPr sz="4000" spc="90" dirty="0">
                <a:latin typeface="Verdana"/>
                <a:cs typeface="Verdana"/>
              </a:rPr>
              <a:t>d</a:t>
            </a:r>
            <a:r>
              <a:rPr sz="4000" spc="-425" dirty="0">
                <a:latin typeface="Verdana"/>
                <a:cs typeface="Verdana"/>
              </a:rPr>
              <a:t> </a:t>
            </a:r>
            <a:r>
              <a:rPr sz="4000" spc="-204" dirty="0">
                <a:latin typeface="Verdana"/>
                <a:cs typeface="Verdana"/>
              </a:rPr>
              <a:t>m</a:t>
            </a:r>
            <a:r>
              <a:rPr sz="4000" spc="-30" dirty="0">
                <a:latin typeface="Verdana"/>
                <a:cs typeface="Verdana"/>
              </a:rPr>
              <a:t>i</a:t>
            </a:r>
            <a:r>
              <a:rPr sz="4000" spc="-45" dirty="0">
                <a:latin typeface="Verdana"/>
                <a:cs typeface="Verdana"/>
              </a:rPr>
              <a:t>n</a:t>
            </a:r>
            <a:r>
              <a:rPr sz="4000" spc="-30" dirty="0">
                <a:latin typeface="Verdana"/>
                <a:cs typeface="Verdana"/>
              </a:rPr>
              <a:t>i</a:t>
            </a:r>
            <a:r>
              <a:rPr sz="4000" spc="-204" dirty="0">
                <a:latin typeface="Verdana"/>
                <a:cs typeface="Verdana"/>
              </a:rPr>
              <a:t>m</a:t>
            </a:r>
            <a:r>
              <a:rPr sz="4000" spc="-30" dirty="0">
                <a:latin typeface="Verdana"/>
                <a:cs typeface="Verdana"/>
              </a:rPr>
              <a:t>i</a:t>
            </a:r>
            <a:r>
              <a:rPr sz="4000" spc="-220" dirty="0">
                <a:latin typeface="Verdana"/>
                <a:cs typeface="Verdana"/>
              </a:rPr>
              <a:t>z</a:t>
            </a:r>
            <a:r>
              <a:rPr sz="4000" spc="-30" dirty="0">
                <a:latin typeface="Verdana"/>
                <a:cs typeface="Verdana"/>
              </a:rPr>
              <a:t>i</a:t>
            </a:r>
            <a:r>
              <a:rPr sz="4000" spc="-45" dirty="0">
                <a:latin typeface="Verdana"/>
                <a:cs typeface="Verdana"/>
              </a:rPr>
              <a:t>n</a:t>
            </a:r>
            <a:r>
              <a:rPr sz="4000" spc="-275" dirty="0">
                <a:latin typeface="Verdana"/>
                <a:cs typeface="Verdana"/>
              </a:rPr>
              <a:t>g</a:t>
            </a:r>
            <a:r>
              <a:rPr sz="4000" spc="-425" dirty="0">
                <a:latin typeface="Verdana"/>
                <a:cs typeface="Verdana"/>
              </a:rPr>
              <a:t> </a:t>
            </a:r>
            <a:r>
              <a:rPr sz="4000" spc="65" dirty="0">
                <a:latin typeface="Verdana"/>
                <a:cs typeface="Verdana"/>
              </a:rPr>
              <a:t>t</a:t>
            </a:r>
            <a:r>
              <a:rPr sz="4000" spc="-40" dirty="0">
                <a:latin typeface="Verdana"/>
                <a:cs typeface="Verdana"/>
              </a:rPr>
              <a:t>r</a:t>
            </a:r>
            <a:r>
              <a:rPr sz="4000" spc="-30" dirty="0">
                <a:latin typeface="Verdana"/>
                <a:cs typeface="Verdana"/>
              </a:rPr>
              <a:t>i</a:t>
            </a:r>
            <a:r>
              <a:rPr sz="4000" spc="85" dirty="0">
                <a:latin typeface="Verdana"/>
                <a:cs typeface="Verdana"/>
              </a:rPr>
              <a:t>p</a:t>
            </a:r>
            <a:r>
              <a:rPr sz="4000" spc="-90" dirty="0">
                <a:latin typeface="Verdana"/>
                <a:cs typeface="Verdana"/>
              </a:rPr>
              <a:t>s</a:t>
            </a:r>
            <a:r>
              <a:rPr sz="4000" spc="-400" dirty="0">
                <a:latin typeface="Verdana"/>
                <a:cs typeface="Verdana"/>
              </a:rPr>
              <a:t>.</a:t>
            </a:r>
            <a:endParaRPr sz="4000" dirty="0">
              <a:latin typeface="Verdana"/>
              <a:cs typeface="Verdana"/>
            </a:endParaRPr>
          </a:p>
          <a:p>
            <a:pPr marL="12700" marR="886460">
              <a:lnSpc>
                <a:spcPts val="6450"/>
              </a:lnSpc>
            </a:pPr>
            <a:r>
              <a:rPr sz="4000" spc="-80" dirty="0">
                <a:latin typeface="Verdana"/>
                <a:cs typeface="Verdana"/>
              </a:rPr>
              <a:t>The</a:t>
            </a:r>
            <a:r>
              <a:rPr sz="4000" spc="-425" dirty="0">
                <a:latin typeface="Verdana"/>
                <a:cs typeface="Verdana"/>
              </a:rPr>
              <a:t> </a:t>
            </a:r>
            <a:r>
              <a:rPr sz="4000" spc="-75" dirty="0">
                <a:latin typeface="Verdana"/>
                <a:cs typeface="Verdana"/>
              </a:rPr>
              <a:t>spoke</a:t>
            </a:r>
            <a:r>
              <a:rPr sz="4000" spc="-420" dirty="0">
                <a:latin typeface="Verdana"/>
                <a:cs typeface="Verdana"/>
              </a:rPr>
              <a:t> </a:t>
            </a:r>
            <a:r>
              <a:rPr sz="4000" spc="-40" dirty="0">
                <a:latin typeface="Verdana"/>
                <a:cs typeface="Verdana"/>
              </a:rPr>
              <a:t>transfers</a:t>
            </a:r>
            <a:r>
              <a:rPr sz="4000" spc="-420" dirty="0">
                <a:latin typeface="Verdana"/>
                <a:cs typeface="Verdana"/>
              </a:rPr>
              <a:t> </a:t>
            </a:r>
            <a:r>
              <a:rPr sz="4000" spc="-15" dirty="0">
                <a:latin typeface="Verdana"/>
                <a:cs typeface="Verdana"/>
              </a:rPr>
              <a:t>allow</a:t>
            </a:r>
            <a:r>
              <a:rPr sz="4000" spc="-425" dirty="0">
                <a:latin typeface="Verdana"/>
                <a:cs typeface="Verdana"/>
              </a:rPr>
              <a:t> </a:t>
            </a:r>
            <a:r>
              <a:rPr sz="4000" spc="-60" dirty="0">
                <a:latin typeface="Verdana"/>
                <a:cs typeface="Verdana"/>
              </a:rPr>
              <a:t>trucks</a:t>
            </a:r>
            <a:r>
              <a:rPr sz="4000" spc="-420" dirty="0">
                <a:latin typeface="Verdana"/>
                <a:cs typeface="Verdana"/>
              </a:rPr>
              <a:t> </a:t>
            </a:r>
            <a:r>
              <a:rPr sz="4000" spc="60" dirty="0">
                <a:latin typeface="Verdana"/>
                <a:cs typeface="Verdana"/>
              </a:rPr>
              <a:t>to</a:t>
            </a:r>
            <a:r>
              <a:rPr sz="4000" spc="-420" dirty="0">
                <a:latin typeface="Verdana"/>
                <a:cs typeface="Verdana"/>
              </a:rPr>
              <a:t> </a:t>
            </a:r>
            <a:r>
              <a:rPr sz="4000" spc="-20" dirty="0">
                <a:latin typeface="Verdana"/>
                <a:cs typeface="Verdana"/>
              </a:rPr>
              <a:t>deliver</a:t>
            </a:r>
            <a:r>
              <a:rPr sz="4000" spc="-425" dirty="0">
                <a:latin typeface="Verdana"/>
                <a:cs typeface="Verdana"/>
              </a:rPr>
              <a:t> </a:t>
            </a:r>
            <a:r>
              <a:rPr sz="4000" spc="-35" dirty="0">
                <a:latin typeface="Verdana"/>
                <a:cs typeface="Verdana"/>
              </a:rPr>
              <a:t>goods</a:t>
            </a:r>
            <a:r>
              <a:rPr sz="4000" spc="-420" dirty="0">
                <a:latin typeface="Verdana"/>
                <a:cs typeface="Verdana"/>
              </a:rPr>
              <a:t> </a:t>
            </a:r>
            <a:r>
              <a:rPr sz="4000" spc="-35" dirty="0">
                <a:latin typeface="Verdana"/>
                <a:cs typeface="Verdana"/>
              </a:rPr>
              <a:t>between</a:t>
            </a:r>
            <a:r>
              <a:rPr sz="4000" spc="-420" dirty="0">
                <a:latin typeface="Verdana"/>
                <a:cs typeface="Verdana"/>
              </a:rPr>
              <a:t> </a:t>
            </a:r>
            <a:r>
              <a:rPr sz="4000" spc="-125" dirty="0">
                <a:latin typeface="Verdana"/>
                <a:cs typeface="Verdana"/>
              </a:rPr>
              <a:t>spokes, </a:t>
            </a:r>
            <a:r>
              <a:rPr sz="4000" spc="-1390" dirty="0">
                <a:latin typeface="Verdana"/>
                <a:cs typeface="Verdana"/>
              </a:rPr>
              <a:t> </a:t>
            </a:r>
            <a:r>
              <a:rPr sz="4000" spc="-40" dirty="0">
                <a:latin typeface="Verdana"/>
                <a:cs typeface="Verdana"/>
              </a:rPr>
              <a:t>r</a:t>
            </a:r>
            <a:r>
              <a:rPr sz="4000" spc="-80" dirty="0">
                <a:latin typeface="Verdana"/>
                <a:cs typeface="Verdana"/>
              </a:rPr>
              <a:t>e</a:t>
            </a:r>
            <a:r>
              <a:rPr sz="4000" spc="85" dirty="0">
                <a:latin typeface="Verdana"/>
                <a:cs typeface="Verdana"/>
              </a:rPr>
              <a:t>d</a:t>
            </a:r>
            <a:r>
              <a:rPr sz="4000" spc="-75" dirty="0">
                <a:latin typeface="Verdana"/>
                <a:cs typeface="Verdana"/>
              </a:rPr>
              <a:t>u</a:t>
            </a:r>
            <a:r>
              <a:rPr sz="4000" spc="140" dirty="0">
                <a:latin typeface="Verdana"/>
                <a:cs typeface="Verdana"/>
              </a:rPr>
              <a:t>c</a:t>
            </a:r>
            <a:r>
              <a:rPr sz="4000" spc="-30" dirty="0">
                <a:latin typeface="Verdana"/>
                <a:cs typeface="Verdana"/>
              </a:rPr>
              <a:t>i</a:t>
            </a:r>
            <a:r>
              <a:rPr sz="4000" spc="-45" dirty="0">
                <a:latin typeface="Verdana"/>
                <a:cs typeface="Verdana"/>
              </a:rPr>
              <a:t>n</a:t>
            </a:r>
            <a:r>
              <a:rPr sz="4000" spc="-275" dirty="0">
                <a:latin typeface="Verdana"/>
                <a:cs typeface="Verdana"/>
              </a:rPr>
              <a:t>g</a:t>
            </a:r>
            <a:r>
              <a:rPr sz="4000" spc="-425" dirty="0">
                <a:latin typeface="Verdana"/>
                <a:cs typeface="Verdana"/>
              </a:rPr>
              <a:t> </a:t>
            </a:r>
            <a:r>
              <a:rPr sz="4000" spc="-75" dirty="0">
                <a:latin typeface="Verdana"/>
                <a:cs typeface="Verdana"/>
              </a:rPr>
              <a:t>u</a:t>
            </a:r>
            <a:r>
              <a:rPr sz="4000" spc="-45" dirty="0">
                <a:latin typeface="Verdana"/>
                <a:cs typeface="Verdana"/>
              </a:rPr>
              <a:t>nn</a:t>
            </a:r>
            <a:r>
              <a:rPr sz="4000" spc="-80" dirty="0">
                <a:latin typeface="Verdana"/>
                <a:cs typeface="Verdana"/>
              </a:rPr>
              <a:t>e</a:t>
            </a:r>
            <a:r>
              <a:rPr sz="4000" spc="140" dirty="0">
                <a:latin typeface="Verdana"/>
                <a:cs typeface="Verdana"/>
              </a:rPr>
              <a:t>c</a:t>
            </a:r>
            <a:r>
              <a:rPr sz="4000" spc="-80" dirty="0">
                <a:latin typeface="Verdana"/>
                <a:cs typeface="Verdana"/>
              </a:rPr>
              <a:t>e</a:t>
            </a:r>
            <a:r>
              <a:rPr sz="4000" spc="-90" dirty="0">
                <a:latin typeface="Verdana"/>
                <a:cs typeface="Verdana"/>
              </a:rPr>
              <a:t>ss</a:t>
            </a:r>
            <a:r>
              <a:rPr sz="4000" spc="-170" dirty="0">
                <a:latin typeface="Verdana"/>
                <a:cs typeface="Verdana"/>
              </a:rPr>
              <a:t>a</a:t>
            </a:r>
            <a:r>
              <a:rPr sz="4000" spc="-40" dirty="0">
                <a:latin typeface="Verdana"/>
                <a:cs typeface="Verdana"/>
              </a:rPr>
              <a:t>r</a:t>
            </a:r>
            <a:r>
              <a:rPr sz="4000" spc="-85" dirty="0">
                <a:latin typeface="Verdana"/>
                <a:cs typeface="Verdana"/>
              </a:rPr>
              <a:t>y</a:t>
            </a:r>
            <a:r>
              <a:rPr sz="4000" spc="-425" dirty="0">
                <a:latin typeface="Verdana"/>
                <a:cs typeface="Verdana"/>
              </a:rPr>
              <a:t> </a:t>
            </a:r>
            <a:r>
              <a:rPr sz="4000" spc="-40" dirty="0">
                <a:latin typeface="Verdana"/>
                <a:cs typeface="Verdana"/>
              </a:rPr>
              <a:t>r</a:t>
            </a:r>
            <a:r>
              <a:rPr sz="4000" spc="-80" dirty="0">
                <a:latin typeface="Verdana"/>
                <a:cs typeface="Verdana"/>
              </a:rPr>
              <a:t>e</a:t>
            </a:r>
            <a:r>
              <a:rPr sz="4000" spc="65" dirty="0">
                <a:latin typeface="Verdana"/>
                <a:cs typeface="Verdana"/>
              </a:rPr>
              <a:t>t</a:t>
            </a:r>
            <a:r>
              <a:rPr sz="4000" spc="-75" dirty="0">
                <a:latin typeface="Verdana"/>
                <a:cs typeface="Verdana"/>
              </a:rPr>
              <a:t>u</a:t>
            </a:r>
            <a:r>
              <a:rPr sz="4000" spc="-40" dirty="0">
                <a:latin typeface="Verdana"/>
                <a:cs typeface="Verdana"/>
              </a:rPr>
              <a:t>rn</a:t>
            </a:r>
            <a:r>
              <a:rPr sz="4000" spc="-425" dirty="0">
                <a:latin typeface="Verdana"/>
                <a:cs typeface="Verdana"/>
              </a:rPr>
              <a:t> </a:t>
            </a:r>
            <a:r>
              <a:rPr sz="4000" spc="65" dirty="0">
                <a:latin typeface="Verdana"/>
                <a:cs typeface="Verdana"/>
              </a:rPr>
              <a:t>t</a:t>
            </a:r>
            <a:r>
              <a:rPr sz="4000" spc="-40" dirty="0">
                <a:latin typeface="Verdana"/>
                <a:cs typeface="Verdana"/>
              </a:rPr>
              <a:t>r</a:t>
            </a:r>
            <a:r>
              <a:rPr sz="4000" spc="-30" dirty="0">
                <a:latin typeface="Verdana"/>
                <a:cs typeface="Verdana"/>
              </a:rPr>
              <a:t>i</a:t>
            </a:r>
            <a:r>
              <a:rPr sz="4000" spc="85" dirty="0">
                <a:latin typeface="Verdana"/>
                <a:cs typeface="Verdana"/>
              </a:rPr>
              <a:t>p</a:t>
            </a:r>
            <a:r>
              <a:rPr sz="4000" spc="-90" dirty="0">
                <a:latin typeface="Verdana"/>
                <a:cs typeface="Verdana"/>
              </a:rPr>
              <a:t>s</a:t>
            </a:r>
            <a:r>
              <a:rPr sz="4000" spc="-400" dirty="0">
                <a:latin typeface="Verdana"/>
                <a:cs typeface="Verdana"/>
              </a:rPr>
              <a:t>.</a:t>
            </a:r>
            <a:endParaRPr sz="4000" dirty="0">
              <a:latin typeface="Verdana"/>
              <a:cs typeface="Verdana"/>
            </a:endParaRPr>
          </a:p>
          <a:p>
            <a:pPr marL="12700" marR="5080">
              <a:lnSpc>
                <a:spcPts val="6450"/>
              </a:lnSpc>
            </a:pPr>
            <a:r>
              <a:rPr sz="4000" spc="-80" dirty="0">
                <a:latin typeface="Verdana"/>
                <a:cs typeface="Verdana"/>
              </a:rPr>
              <a:t>The</a:t>
            </a:r>
            <a:r>
              <a:rPr sz="4000" spc="-425" dirty="0">
                <a:latin typeface="Verdana"/>
                <a:cs typeface="Verdana"/>
              </a:rPr>
              <a:t> </a:t>
            </a:r>
            <a:r>
              <a:rPr sz="4000" spc="-80" dirty="0">
                <a:latin typeface="Verdana"/>
                <a:cs typeface="Verdana"/>
              </a:rPr>
              <a:t>system</a:t>
            </a:r>
            <a:r>
              <a:rPr sz="4000" spc="-420" dirty="0">
                <a:latin typeface="Verdana"/>
                <a:cs typeface="Verdana"/>
              </a:rPr>
              <a:t> </a:t>
            </a:r>
            <a:r>
              <a:rPr sz="4000" spc="-70" dirty="0">
                <a:latin typeface="Verdana"/>
                <a:cs typeface="Verdana"/>
              </a:rPr>
              <a:t>ensures</a:t>
            </a:r>
            <a:r>
              <a:rPr sz="4000" spc="-425" dirty="0">
                <a:latin typeface="Verdana"/>
                <a:cs typeface="Verdana"/>
              </a:rPr>
              <a:t> </a:t>
            </a:r>
            <a:r>
              <a:rPr sz="4000" dirty="0">
                <a:latin typeface="Verdana"/>
                <a:cs typeface="Verdana"/>
              </a:rPr>
              <a:t>cost-effective</a:t>
            </a:r>
            <a:r>
              <a:rPr sz="4000" spc="-420" dirty="0">
                <a:latin typeface="Verdana"/>
                <a:cs typeface="Verdana"/>
              </a:rPr>
              <a:t> </a:t>
            </a:r>
            <a:r>
              <a:rPr sz="4000" spc="-10" dirty="0">
                <a:latin typeface="Verdana"/>
                <a:cs typeface="Verdana"/>
              </a:rPr>
              <a:t>transport</a:t>
            </a:r>
            <a:r>
              <a:rPr sz="4000" spc="-425" dirty="0">
                <a:latin typeface="Verdana"/>
                <a:cs typeface="Verdana"/>
              </a:rPr>
              <a:t> </a:t>
            </a:r>
            <a:r>
              <a:rPr sz="4000" dirty="0">
                <a:latin typeface="Verdana"/>
                <a:cs typeface="Verdana"/>
              </a:rPr>
              <a:t>by</a:t>
            </a:r>
            <a:r>
              <a:rPr sz="4000" spc="-420" dirty="0">
                <a:latin typeface="Verdana"/>
                <a:cs typeface="Verdana"/>
              </a:rPr>
              <a:t> </a:t>
            </a:r>
            <a:r>
              <a:rPr sz="4000" spc="-65" dirty="0">
                <a:latin typeface="Verdana"/>
                <a:cs typeface="Verdana"/>
              </a:rPr>
              <a:t>optimizing</a:t>
            </a:r>
            <a:r>
              <a:rPr sz="4000" spc="-425" dirty="0">
                <a:latin typeface="Verdana"/>
                <a:cs typeface="Verdana"/>
              </a:rPr>
              <a:t> </a:t>
            </a:r>
            <a:r>
              <a:rPr sz="4000" spc="-25" dirty="0">
                <a:latin typeface="Verdana"/>
                <a:cs typeface="Verdana"/>
              </a:rPr>
              <a:t>routes</a:t>
            </a:r>
            <a:r>
              <a:rPr sz="4000" spc="-420" dirty="0">
                <a:latin typeface="Verdana"/>
                <a:cs typeface="Verdana"/>
              </a:rPr>
              <a:t> </a:t>
            </a:r>
            <a:r>
              <a:rPr sz="4000" spc="-40" dirty="0">
                <a:latin typeface="Verdana"/>
                <a:cs typeface="Verdana"/>
              </a:rPr>
              <a:t>and </a:t>
            </a:r>
            <a:r>
              <a:rPr sz="4000" spc="-1390" dirty="0">
                <a:latin typeface="Verdana"/>
                <a:cs typeface="Verdana"/>
              </a:rPr>
              <a:t> </a:t>
            </a:r>
            <a:r>
              <a:rPr sz="4000" spc="-204" dirty="0">
                <a:latin typeface="Verdana"/>
                <a:cs typeface="Verdana"/>
              </a:rPr>
              <a:t>m</a:t>
            </a:r>
            <a:r>
              <a:rPr sz="4000" spc="-30" dirty="0">
                <a:latin typeface="Verdana"/>
                <a:cs typeface="Verdana"/>
              </a:rPr>
              <a:t>i</a:t>
            </a:r>
            <a:r>
              <a:rPr sz="4000" spc="-45" dirty="0">
                <a:latin typeface="Verdana"/>
                <a:cs typeface="Verdana"/>
              </a:rPr>
              <a:t>n</a:t>
            </a:r>
            <a:r>
              <a:rPr sz="4000" spc="-30" dirty="0">
                <a:latin typeface="Verdana"/>
                <a:cs typeface="Verdana"/>
              </a:rPr>
              <a:t>i</a:t>
            </a:r>
            <a:r>
              <a:rPr sz="4000" spc="-204" dirty="0">
                <a:latin typeface="Verdana"/>
                <a:cs typeface="Verdana"/>
              </a:rPr>
              <a:t>m</a:t>
            </a:r>
            <a:r>
              <a:rPr sz="4000" spc="-30" dirty="0">
                <a:latin typeface="Verdana"/>
                <a:cs typeface="Verdana"/>
              </a:rPr>
              <a:t>i</a:t>
            </a:r>
            <a:r>
              <a:rPr sz="4000" spc="-220" dirty="0">
                <a:latin typeface="Verdana"/>
                <a:cs typeface="Verdana"/>
              </a:rPr>
              <a:t>z</a:t>
            </a:r>
            <a:r>
              <a:rPr sz="4000" spc="-30" dirty="0">
                <a:latin typeface="Verdana"/>
                <a:cs typeface="Verdana"/>
              </a:rPr>
              <a:t>i</a:t>
            </a:r>
            <a:r>
              <a:rPr sz="4000" spc="-45" dirty="0">
                <a:latin typeface="Verdana"/>
                <a:cs typeface="Verdana"/>
              </a:rPr>
              <a:t>n</a:t>
            </a:r>
            <a:r>
              <a:rPr sz="4000" spc="-275" dirty="0">
                <a:latin typeface="Verdana"/>
                <a:cs typeface="Verdana"/>
              </a:rPr>
              <a:t>g</a:t>
            </a:r>
            <a:r>
              <a:rPr sz="4000" spc="-425" dirty="0">
                <a:latin typeface="Verdana"/>
                <a:cs typeface="Verdana"/>
              </a:rPr>
              <a:t> </a:t>
            </a:r>
            <a:r>
              <a:rPr sz="4000" spc="65" dirty="0">
                <a:latin typeface="Verdana"/>
                <a:cs typeface="Verdana"/>
              </a:rPr>
              <a:t>t</a:t>
            </a:r>
            <a:r>
              <a:rPr sz="4000" spc="-45" dirty="0">
                <a:latin typeface="Verdana"/>
                <a:cs typeface="Verdana"/>
              </a:rPr>
              <a:t>h</a:t>
            </a:r>
            <a:r>
              <a:rPr sz="4000" spc="-75" dirty="0">
                <a:latin typeface="Verdana"/>
                <a:cs typeface="Verdana"/>
              </a:rPr>
              <a:t>e</a:t>
            </a:r>
            <a:r>
              <a:rPr sz="4000" spc="-425" dirty="0">
                <a:latin typeface="Verdana"/>
                <a:cs typeface="Verdana"/>
              </a:rPr>
              <a:t> </a:t>
            </a:r>
            <a:r>
              <a:rPr sz="4000" spc="65" dirty="0">
                <a:latin typeface="Verdana"/>
                <a:cs typeface="Verdana"/>
              </a:rPr>
              <a:t>t</a:t>
            </a:r>
            <a:r>
              <a:rPr sz="4000" spc="50" dirty="0">
                <a:latin typeface="Verdana"/>
                <a:cs typeface="Verdana"/>
              </a:rPr>
              <a:t>o</a:t>
            </a:r>
            <a:r>
              <a:rPr sz="4000" spc="65" dirty="0">
                <a:latin typeface="Verdana"/>
                <a:cs typeface="Verdana"/>
              </a:rPr>
              <a:t>t</a:t>
            </a:r>
            <a:r>
              <a:rPr sz="4000" spc="-170" dirty="0">
                <a:latin typeface="Verdana"/>
                <a:cs typeface="Verdana"/>
              </a:rPr>
              <a:t>a</a:t>
            </a:r>
            <a:r>
              <a:rPr sz="4000" spc="80" dirty="0">
                <a:latin typeface="Verdana"/>
                <a:cs typeface="Verdana"/>
              </a:rPr>
              <a:t>l</a:t>
            </a:r>
            <a:r>
              <a:rPr sz="4000" spc="-425" dirty="0">
                <a:latin typeface="Verdana"/>
                <a:cs typeface="Verdana"/>
              </a:rPr>
              <a:t> </a:t>
            </a:r>
            <a:r>
              <a:rPr sz="4000" spc="85" dirty="0">
                <a:latin typeface="Verdana"/>
                <a:cs typeface="Verdana"/>
              </a:rPr>
              <a:t>d</a:t>
            </a:r>
            <a:r>
              <a:rPr sz="4000" spc="-30" dirty="0">
                <a:latin typeface="Verdana"/>
                <a:cs typeface="Verdana"/>
              </a:rPr>
              <a:t>i</a:t>
            </a:r>
            <a:r>
              <a:rPr sz="4000" spc="-90" dirty="0">
                <a:latin typeface="Verdana"/>
                <a:cs typeface="Verdana"/>
              </a:rPr>
              <a:t>s</a:t>
            </a:r>
            <a:r>
              <a:rPr sz="4000" spc="65" dirty="0">
                <a:latin typeface="Verdana"/>
                <a:cs typeface="Verdana"/>
              </a:rPr>
              <a:t>t</a:t>
            </a:r>
            <a:r>
              <a:rPr sz="4000" spc="-170" dirty="0">
                <a:latin typeface="Verdana"/>
                <a:cs typeface="Verdana"/>
              </a:rPr>
              <a:t>a</a:t>
            </a:r>
            <a:r>
              <a:rPr sz="4000" spc="-45" dirty="0">
                <a:latin typeface="Verdana"/>
                <a:cs typeface="Verdana"/>
              </a:rPr>
              <a:t>n</a:t>
            </a:r>
            <a:r>
              <a:rPr sz="4000" spc="140" dirty="0">
                <a:latin typeface="Verdana"/>
                <a:cs typeface="Verdana"/>
              </a:rPr>
              <a:t>c</a:t>
            </a:r>
            <a:r>
              <a:rPr sz="4000" spc="-75" dirty="0">
                <a:latin typeface="Verdana"/>
                <a:cs typeface="Verdana"/>
              </a:rPr>
              <a:t>e</a:t>
            </a:r>
            <a:r>
              <a:rPr sz="4000" spc="-425" dirty="0">
                <a:latin typeface="Verdana"/>
                <a:cs typeface="Verdana"/>
              </a:rPr>
              <a:t> </a:t>
            </a:r>
            <a:r>
              <a:rPr sz="4000" spc="140" dirty="0">
                <a:latin typeface="Verdana"/>
                <a:cs typeface="Verdana"/>
              </a:rPr>
              <a:t>c</a:t>
            </a:r>
            <a:r>
              <a:rPr sz="4000" spc="50" dirty="0">
                <a:latin typeface="Verdana"/>
                <a:cs typeface="Verdana"/>
              </a:rPr>
              <a:t>o</a:t>
            </a:r>
            <a:r>
              <a:rPr sz="4000" spc="-80" dirty="0">
                <a:latin typeface="Verdana"/>
                <a:cs typeface="Verdana"/>
              </a:rPr>
              <a:t>ve</a:t>
            </a:r>
            <a:r>
              <a:rPr sz="4000" spc="-40" dirty="0">
                <a:latin typeface="Verdana"/>
                <a:cs typeface="Verdana"/>
              </a:rPr>
              <a:t>r</a:t>
            </a:r>
            <a:r>
              <a:rPr sz="4000" spc="-80" dirty="0">
                <a:latin typeface="Verdana"/>
                <a:cs typeface="Verdana"/>
              </a:rPr>
              <a:t>e</a:t>
            </a:r>
            <a:r>
              <a:rPr sz="4000" spc="85" dirty="0">
                <a:latin typeface="Verdana"/>
                <a:cs typeface="Verdana"/>
              </a:rPr>
              <a:t>d</a:t>
            </a:r>
            <a:r>
              <a:rPr sz="4000" spc="-400" dirty="0">
                <a:latin typeface="Verdana"/>
                <a:cs typeface="Verdana"/>
              </a:rPr>
              <a:t>.</a:t>
            </a:r>
            <a:endParaRPr sz="4000" dirty="0">
              <a:latin typeface="Verdana"/>
              <a:cs typeface="Verdana"/>
            </a:endParaRPr>
          </a:p>
        </p:txBody>
      </p:sp>
      <p:pic>
        <p:nvPicPr>
          <p:cNvPr id="4" name="object 4"/>
          <p:cNvPicPr/>
          <p:nvPr/>
        </p:nvPicPr>
        <p:blipFill>
          <a:blip r:embed="rId3" cstate="print"/>
          <a:stretch>
            <a:fillRect/>
          </a:stretch>
        </p:blipFill>
        <p:spPr>
          <a:xfrm>
            <a:off x="495666" y="4222905"/>
            <a:ext cx="180975" cy="180974"/>
          </a:xfrm>
          <a:prstGeom prst="rect">
            <a:avLst/>
          </a:prstGeom>
        </p:spPr>
      </p:pic>
      <p:pic>
        <p:nvPicPr>
          <p:cNvPr id="5" name="object 5"/>
          <p:cNvPicPr/>
          <p:nvPr/>
        </p:nvPicPr>
        <p:blipFill>
          <a:blip r:embed="rId3" cstate="print"/>
          <a:stretch>
            <a:fillRect/>
          </a:stretch>
        </p:blipFill>
        <p:spPr>
          <a:xfrm>
            <a:off x="495666" y="5861205"/>
            <a:ext cx="180975" cy="180974"/>
          </a:xfrm>
          <a:prstGeom prst="rect">
            <a:avLst/>
          </a:prstGeom>
        </p:spPr>
      </p:pic>
      <p:pic>
        <p:nvPicPr>
          <p:cNvPr id="6" name="object 6"/>
          <p:cNvPicPr/>
          <p:nvPr/>
        </p:nvPicPr>
        <p:blipFill>
          <a:blip r:embed="rId4" cstate="print"/>
          <a:stretch>
            <a:fillRect/>
          </a:stretch>
        </p:blipFill>
        <p:spPr>
          <a:xfrm>
            <a:off x="495666" y="7499505"/>
            <a:ext cx="180975" cy="180974"/>
          </a:xfrm>
          <a:prstGeom prst="rect">
            <a:avLst/>
          </a:prstGeom>
        </p:spPr>
      </p:pic>
      <p:sp>
        <p:nvSpPr>
          <p:cNvPr id="7" name="object 7"/>
          <p:cNvSpPr txBox="1">
            <a:spLocks noGrp="1"/>
          </p:cNvSpPr>
          <p:nvPr>
            <p:ph type="title"/>
          </p:nvPr>
        </p:nvSpPr>
        <p:spPr>
          <a:xfrm>
            <a:off x="1016595" y="393389"/>
            <a:ext cx="6412230" cy="870585"/>
          </a:xfrm>
          <a:prstGeom prst="rect">
            <a:avLst/>
          </a:prstGeom>
        </p:spPr>
        <p:txBody>
          <a:bodyPr vert="horz" wrap="square" lIns="0" tIns="11430" rIns="0" bIns="0" rtlCol="0">
            <a:spAutoFit/>
          </a:bodyPr>
          <a:lstStyle/>
          <a:p>
            <a:pPr marL="12700">
              <a:lnSpc>
                <a:spcPct val="100000"/>
              </a:lnSpc>
              <a:spcBef>
                <a:spcPts val="90"/>
              </a:spcBef>
            </a:pPr>
            <a:r>
              <a:rPr sz="5550" spc="-459" dirty="0">
                <a:solidFill>
                  <a:srgbClr val="081A9A"/>
                </a:solidFill>
              </a:rPr>
              <a:t>P</a:t>
            </a:r>
            <a:r>
              <a:rPr sz="5550" spc="-425" dirty="0">
                <a:solidFill>
                  <a:srgbClr val="081A9A"/>
                </a:solidFill>
              </a:rPr>
              <a:t>r</a:t>
            </a:r>
            <a:r>
              <a:rPr sz="5550" spc="-345" dirty="0">
                <a:solidFill>
                  <a:srgbClr val="081A9A"/>
                </a:solidFill>
              </a:rPr>
              <a:t>o</a:t>
            </a:r>
            <a:r>
              <a:rPr sz="5550" spc="-310" dirty="0">
                <a:solidFill>
                  <a:srgbClr val="081A9A"/>
                </a:solidFill>
              </a:rPr>
              <a:t>p</a:t>
            </a:r>
            <a:r>
              <a:rPr sz="5550" spc="-345" dirty="0">
                <a:solidFill>
                  <a:srgbClr val="081A9A"/>
                </a:solidFill>
              </a:rPr>
              <a:t>o</a:t>
            </a:r>
            <a:r>
              <a:rPr sz="5550" spc="-545" dirty="0">
                <a:solidFill>
                  <a:srgbClr val="081A9A"/>
                </a:solidFill>
              </a:rPr>
              <a:t>s</a:t>
            </a:r>
            <a:r>
              <a:rPr sz="5550" spc="-445" dirty="0">
                <a:solidFill>
                  <a:srgbClr val="081A9A"/>
                </a:solidFill>
              </a:rPr>
              <a:t>e</a:t>
            </a:r>
            <a:r>
              <a:rPr sz="5550" spc="-305" dirty="0">
                <a:solidFill>
                  <a:srgbClr val="081A9A"/>
                </a:solidFill>
              </a:rPr>
              <a:t>d</a:t>
            </a:r>
            <a:r>
              <a:rPr sz="5550" spc="-595" dirty="0">
                <a:solidFill>
                  <a:srgbClr val="081A9A"/>
                </a:solidFill>
              </a:rPr>
              <a:t> </a:t>
            </a:r>
            <a:r>
              <a:rPr sz="5550" spc="-550" dirty="0">
                <a:solidFill>
                  <a:srgbClr val="081A9A"/>
                </a:solidFill>
              </a:rPr>
              <a:t>S</a:t>
            </a:r>
            <a:r>
              <a:rPr sz="5550" spc="-345" dirty="0">
                <a:solidFill>
                  <a:srgbClr val="081A9A"/>
                </a:solidFill>
              </a:rPr>
              <a:t>o</a:t>
            </a:r>
            <a:r>
              <a:rPr sz="5550" spc="-190" dirty="0">
                <a:solidFill>
                  <a:srgbClr val="081A9A"/>
                </a:solidFill>
              </a:rPr>
              <a:t>l</a:t>
            </a:r>
            <a:r>
              <a:rPr sz="5550" spc="-505" dirty="0">
                <a:solidFill>
                  <a:srgbClr val="081A9A"/>
                </a:solidFill>
              </a:rPr>
              <a:t>u</a:t>
            </a:r>
            <a:r>
              <a:rPr sz="5550" spc="-215" dirty="0">
                <a:solidFill>
                  <a:srgbClr val="081A9A"/>
                </a:solidFill>
              </a:rPr>
              <a:t>t</a:t>
            </a:r>
            <a:r>
              <a:rPr sz="5550" spc="-295" dirty="0">
                <a:solidFill>
                  <a:srgbClr val="081A9A"/>
                </a:solidFill>
              </a:rPr>
              <a:t>i</a:t>
            </a:r>
            <a:r>
              <a:rPr sz="5550" spc="-345" dirty="0">
                <a:solidFill>
                  <a:srgbClr val="081A9A"/>
                </a:solidFill>
              </a:rPr>
              <a:t>o</a:t>
            </a:r>
            <a:r>
              <a:rPr sz="5550" spc="-459" dirty="0">
                <a:solidFill>
                  <a:srgbClr val="081A9A"/>
                </a:solidFill>
              </a:rPr>
              <a:t>n</a:t>
            </a:r>
            <a:endParaRPr sz="5550"/>
          </a:p>
        </p:txBody>
      </p:sp>
      <p:pic>
        <p:nvPicPr>
          <p:cNvPr id="8" name="Picture 7"/>
          <p:cNvPicPr>
            <a:picLocks noChangeAspect="1"/>
          </p:cNvPicPr>
          <p:nvPr/>
        </p:nvPicPr>
        <p:blipFill>
          <a:blip r:embed="rId5"/>
          <a:stretch>
            <a:fillRect/>
          </a:stretch>
        </p:blipFill>
        <p:spPr>
          <a:xfrm>
            <a:off x="13915415" y="9143840"/>
            <a:ext cx="4372585" cy="11431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62186" y="176018"/>
            <a:ext cx="3043555" cy="872490"/>
          </a:xfrm>
          <a:prstGeom prst="rect">
            <a:avLst/>
          </a:prstGeom>
        </p:spPr>
        <p:txBody>
          <a:bodyPr vert="horz" wrap="square" lIns="0" tIns="13335" rIns="0" bIns="0" rtlCol="0">
            <a:spAutoFit/>
          </a:bodyPr>
          <a:lstStyle/>
          <a:p>
            <a:pPr marL="12700">
              <a:lnSpc>
                <a:spcPct val="100000"/>
              </a:lnSpc>
              <a:spcBef>
                <a:spcPts val="105"/>
              </a:spcBef>
            </a:pPr>
            <a:r>
              <a:rPr sz="5550" spc="-440" dirty="0">
                <a:solidFill>
                  <a:srgbClr val="081A9A"/>
                </a:solidFill>
              </a:rPr>
              <a:t>Features</a:t>
            </a:r>
            <a:endParaRPr sz="5550" dirty="0"/>
          </a:p>
        </p:txBody>
      </p:sp>
      <p:pic>
        <p:nvPicPr>
          <p:cNvPr id="3" name="object 3"/>
          <p:cNvPicPr/>
          <p:nvPr/>
        </p:nvPicPr>
        <p:blipFill>
          <a:blip r:embed="rId2" cstate="print"/>
          <a:stretch>
            <a:fillRect/>
          </a:stretch>
        </p:blipFill>
        <p:spPr>
          <a:xfrm>
            <a:off x="438149" y="2814013"/>
            <a:ext cx="180975" cy="180974"/>
          </a:xfrm>
          <a:prstGeom prst="rect">
            <a:avLst/>
          </a:prstGeom>
        </p:spPr>
      </p:pic>
      <p:sp>
        <p:nvSpPr>
          <p:cNvPr id="4" name="object 4"/>
          <p:cNvSpPr txBox="1">
            <a:spLocks noGrp="1"/>
          </p:cNvSpPr>
          <p:nvPr>
            <p:ph type="body" idx="1"/>
          </p:nvPr>
        </p:nvSpPr>
        <p:spPr>
          <a:prstGeom prst="rect">
            <a:avLst/>
          </a:prstGeom>
        </p:spPr>
        <p:txBody>
          <a:bodyPr vert="horz" wrap="square" lIns="0" tIns="12700" rIns="0" bIns="0" rtlCol="0">
            <a:spAutoFit/>
          </a:bodyPr>
          <a:lstStyle/>
          <a:p>
            <a:pPr marL="452120">
              <a:lnSpc>
                <a:spcPct val="100000"/>
              </a:lnSpc>
              <a:spcBef>
                <a:spcPts val="100"/>
              </a:spcBef>
            </a:pPr>
            <a:r>
              <a:rPr spc="-105" dirty="0"/>
              <a:t>IOT-enabled</a:t>
            </a:r>
            <a:r>
              <a:rPr spc="-420" dirty="0"/>
              <a:t> </a:t>
            </a:r>
            <a:r>
              <a:rPr spc="-95" dirty="0"/>
              <a:t>real-time</a:t>
            </a:r>
            <a:r>
              <a:rPr spc="-420" dirty="0"/>
              <a:t> </a:t>
            </a:r>
            <a:r>
              <a:rPr spc="-55" dirty="0"/>
              <a:t>shipment</a:t>
            </a:r>
            <a:r>
              <a:rPr spc="-420" dirty="0"/>
              <a:t> </a:t>
            </a:r>
            <a:r>
              <a:rPr spc="-100" dirty="0"/>
              <a:t>tracking</a:t>
            </a:r>
            <a:r>
              <a:rPr spc="-420" dirty="0"/>
              <a:t> </a:t>
            </a:r>
            <a:r>
              <a:rPr spc="-55" dirty="0"/>
              <a:t>and</a:t>
            </a:r>
            <a:r>
              <a:rPr spc="-415" dirty="0"/>
              <a:t> </a:t>
            </a:r>
            <a:r>
              <a:rPr spc="-65" dirty="0"/>
              <a:t>temperature</a:t>
            </a:r>
            <a:r>
              <a:rPr spc="-420" dirty="0"/>
              <a:t> </a:t>
            </a:r>
            <a:r>
              <a:rPr spc="-60" dirty="0"/>
              <a:t>monitoring</a:t>
            </a:r>
          </a:p>
          <a:p>
            <a:pPr marL="452120">
              <a:lnSpc>
                <a:spcPct val="100000"/>
              </a:lnSpc>
              <a:spcBef>
                <a:spcPts val="2925"/>
              </a:spcBef>
            </a:pPr>
            <a:r>
              <a:rPr spc="40" dirty="0"/>
              <a:t>for</a:t>
            </a:r>
            <a:r>
              <a:rPr spc="-430" dirty="0"/>
              <a:t> </a:t>
            </a:r>
            <a:r>
              <a:rPr spc="-60" dirty="0"/>
              <a:t>safe</a:t>
            </a:r>
            <a:r>
              <a:rPr spc="-430" dirty="0"/>
              <a:t> </a:t>
            </a:r>
            <a:r>
              <a:rPr spc="-25" dirty="0"/>
              <a:t>transport</a:t>
            </a:r>
            <a:r>
              <a:rPr spc="-430" dirty="0"/>
              <a:t> </a:t>
            </a:r>
            <a:r>
              <a:rPr spc="80" dirty="0"/>
              <a:t>of</a:t>
            </a:r>
            <a:r>
              <a:rPr spc="-430" dirty="0"/>
              <a:t> </a:t>
            </a:r>
            <a:r>
              <a:rPr spc="-40" dirty="0"/>
              <a:t>perishable</a:t>
            </a:r>
            <a:r>
              <a:rPr spc="-425" dirty="0"/>
              <a:t> </a:t>
            </a:r>
            <a:r>
              <a:rPr spc="-110" dirty="0"/>
              <a:t>goods.</a:t>
            </a:r>
          </a:p>
          <a:p>
            <a:pPr marL="452120" marR="466090">
              <a:lnSpc>
                <a:spcPct val="160900"/>
              </a:lnSpc>
            </a:pPr>
            <a:r>
              <a:rPr spc="-140" dirty="0"/>
              <a:t>Smart</a:t>
            </a:r>
            <a:r>
              <a:rPr spc="-425" dirty="0"/>
              <a:t> </a:t>
            </a:r>
            <a:r>
              <a:rPr spc="-35" dirty="0"/>
              <a:t>space</a:t>
            </a:r>
            <a:r>
              <a:rPr spc="-420" dirty="0"/>
              <a:t> </a:t>
            </a:r>
            <a:r>
              <a:rPr spc="-40" dirty="0"/>
              <a:t>utilization</a:t>
            </a:r>
            <a:r>
              <a:rPr spc="-425" dirty="0"/>
              <a:t> </a:t>
            </a:r>
            <a:r>
              <a:rPr spc="-15" dirty="0"/>
              <a:t>by</a:t>
            </a:r>
            <a:r>
              <a:rPr spc="-420" dirty="0"/>
              <a:t> </a:t>
            </a:r>
            <a:r>
              <a:rPr spc="-80" dirty="0"/>
              <a:t>checking</a:t>
            </a:r>
            <a:r>
              <a:rPr spc="-425" dirty="0"/>
              <a:t> </a:t>
            </a:r>
            <a:r>
              <a:rPr spc="45" dirty="0"/>
              <a:t>if</a:t>
            </a:r>
            <a:r>
              <a:rPr spc="-420" dirty="0"/>
              <a:t> </a:t>
            </a:r>
            <a:r>
              <a:rPr spc="-50" dirty="0"/>
              <a:t>goods</a:t>
            </a:r>
            <a:r>
              <a:rPr spc="-425" dirty="0"/>
              <a:t> </a:t>
            </a:r>
            <a:r>
              <a:rPr spc="50" dirty="0"/>
              <a:t>fit</a:t>
            </a:r>
            <a:r>
              <a:rPr spc="-420" dirty="0"/>
              <a:t> </a:t>
            </a:r>
            <a:r>
              <a:rPr spc="-40" dirty="0"/>
              <a:t>in</a:t>
            </a:r>
            <a:r>
              <a:rPr spc="-420" dirty="0"/>
              <a:t> </a:t>
            </a:r>
            <a:r>
              <a:rPr spc="-120" dirty="0"/>
              <a:t>trucks,</a:t>
            </a:r>
            <a:r>
              <a:rPr spc="-425" dirty="0"/>
              <a:t> </a:t>
            </a:r>
            <a:r>
              <a:rPr spc="-165" dirty="0"/>
              <a:t>maximizing </a:t>
            </a:r>
            <a:r>
              <a:rPr spc="-1390" dirty="0"/>
              <a:t> </a:t>
            </a:r>
            <a:r>
              <a:rPr spc="-30" dirty="0"/>
              <a:t>efficiency.</a:t>
            </a:r>
          </a:p>
          <a:p>
            <a:pPr marL="452120" marR="836930">
              <a:lnSpc>
                <a:spcPct val="160900"/>
              </a:lnSpc>
            </a:pPr>
            <a:r>
              <a:rPr dirty="0"/>
              <a:t>Priority</a:t>
            </a:r>
            <a:r>
              <a:rPr spc="-420" dirty="0"/>
              <a:t> </a:t>
            </a:r>
            <a:r>
              <a:rPr spc="-40" dirty="0"/>
              <a:t>delivery</a:t>
            </a:r>
            <a:r>
              <a:rPr spc="-415" dirty="0"/>
              <a:t> </a:t>
            </a:r>
            <a:r>
              <a:rPr spc="20" dirty="0"/>
              <a:t>option</a:t>
            </a:r>
            <a:r>
              <a:rPr spc="-415" dirty="0"/>
              <a:t> </a:t>
            </a:r>
            <a:r>
              <a:rPr spc="40" dirty="0"/>
              <a:t>for</a:t>
            </a:r>
            <a:r>
              <a:rPr spc="-420" dirty="0"/>
              <a:t> </a:t>
            </a:r>
            <a:r>
              <a:rPr spc="-95" dirty="0"/>
              <a:t>fast-tracking</a:t>
            </a:r>
            <a:r>
              <a:rPr spc="-415" dirty="0"/>
              <a:t> </a:t>
            </a:r>
            <a:r>
              <a:rPr spc="-80" dirty="0"/>
              <a:t>time-sensitive</a:t>
            </a:r>
            <a:r>
              <a:rPr spc="-420" dirty="0"/>
              <a:t> </a:t>
            </a:r>
            <a:r>
              <a:rPr spc="-95" dirty="0"/>
              <a:t>shipments. </a:t>
            </a:r>
            <a:r>
              <a:rPr spc="-1390" dirty="0"/>
              <a:t> </a:t>
            </a:r>
            <a:r>
              <a:rPr spc="-35" dirty="0"/>
              <a:t>Trip </a:t>
            </a:r>
            <a:r>
              <a:rPr spc="-45" dirty="0"/>
              <a:t>optimization </a:t>
            </a:r>
            <a:r>
              <a:rPr spc="50" dirty="0"/>
              <a:t>to </a:t>
            </a:r>
            <a:r>
              <a:rPr spc="-20" dirty="0"/>
              <a:t>reduce </a:t>
            </a:r>
            <a:r>
              <a:rPr spc="-60" dirty="0"/>
              <a:t>costs, </a:t>
            </a:r>
            <a:r>
              <a:rPr spc="-114" dirty="0"/>
              <a:t>save </a:t>
            </a:r>
            <a:r>
              <a:rPr spc="-80" dirty="0"/>
              <a:t>fuel, </a:t>
            </a:r>
            <a:r>
              <a:rPr spc="-55" dirty="0"/>
              <a:t>and improve </a:t>
            </a:r>
            <a:r>
              <a:rPr spc="-35" dirty="0"/>
              <a:t>overall </a:t>
            </a:r>
            <a:r>
              <a:rPr spc="-1395" dirty="0"/>
              <a:t> </a:t>
            </a:r>
            <a:r>
              <a:rPr spc="-30" dirty="0"/>
              <a:t>efficiency.</a:t>
            </a:r>
          </a:p>
        </p:txBody>
      </p:sp>
      <p:pic>
        <p:nvPicPr>
          <p:cNvPr id="5" name="object 5"/>
          <p:cNvPicPr/>
          <p:nvPr/>
        </p:nvPicPr>
        <p:blipFill>
          <a:blip r:embed="rId3" cstate="print"/>
          <a:stretch>
            <a:fillRect/>
          </a:stretch>
        </p:blipFill>
        <p:spPr>
          <a:xfrm>
            <a:off x="438149" y="4776163"/>
            <a:ext cx="180975" cy="180974"/>
          </a:xfrm>
          <a:prstGeom prst="rect">
            <a:avLst/>
          </a:prstGeom>
        </p:spPr>
      </p:pic>
      <p:pic>
        <p:nvPicPr>
          <p:cNvPr id="6" name="object 6"/>
          <p:cNvPicPr/>
          <p:nvPr/>
        </p:nvPicPr>
        <p:blipFill>
          <a:blip r:embed="rId4" cstate="print"/>
          <a:stretch>
            <a:fillRect/>
          </a:stretch>
        </p:blipFill>
        <p:spPr>
          <a:xfrm>
            <a:off x="438149" y="6738313"/>
            <a:ext cx="180975" cy="180974"/>
          </a:xfrm>
          <a:prstGeom prst="rect">
            <a:avLst/>
          </a:prstGeom>
        </p:spPr>
      </p:pic>
      <p:pic>
        <p:nvPicPr>
          <p:cNvPr id="7" name="object 7"/>
          <p:cNvPicPr/>
          <p:nvPr/>
        </p:nvPicPr>
        <p:blipFill>
          <a:blip r:embed="rId4" cstate="print"/>
          <a:stretch>
            <a:fillRect/>
          </a:stretch>
        </p:blipFill>
        <p:spPr>
          <a:xfrm>
            <a:off x="438149" y="7719388"/>
            <a:ext cx="180975" cy="180974"/>
          </a:xfrm>
          <a:prstGeom prst="rect">
            <a:avLst/>
          </a:prstGeom>
        </p:spPr>
      </p:pic>
      <p:pic>
        <p:nvPicPr>
          <p:cNvPr id="8" name="Picture 7"/>
          <p:cNvPicPr>
            <a:picLocks noChangeAspect="1"/>
          </p:cNvPicPr>
          <p:nvPr/>
        </p:nvPicPr>
        <p:blipFill>
          <a:blip r:embed="rId5"/>
          <a:stretch>
            <a:fillRect/>
          </a:stretch>
        </p:blipFill>
        <p:spPr>
          <a:xfrm>
            <a:off x="13901560" y="9122193"/>
            <a:ext cx="4372585" cy="11431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47800" y="1818410"/>
            <a:ext cx="12268200" cy="7820890"/>
          </a:xfrm>
          <a:prstGeom prst="rect">
            <a:avLst/>
          </a:prstGeom>
        </p:spPr>
      </p:pic>
      <p:sp>
        <p:nvSpPr>
          <p:cNvPr id="3" name="object 2"/>
          <p:cNvSpPr txBox="1">
            <a:spLocks/>
          </p:cNvSpPr>
          <p:nvPr/>
        </p:nvSpPr>
        <p:spPr>
          <a:xfrm>
            <a:off x="5715000" y="266700"/>
            <a:ext cx="3043555" cy="872490"/>
          </a:xfrm>
          <a:prstGeom prst="rect">
            <a:avLst/>
          </a:prstGeom>
        </p:spPr>
        <p:txBody>
          <a:bodyPr vert="horz" wrap="square" lIns="0" tIns="13335" rIns="0" bIns="0" rtlCol="0">
            <a:spAutoFit/>
          </a:bodyPr>
          <a:lstStyle>
            <a:lvl1pPr>
              <a:defRPr>
                <a:latin typeface="+mj-lt"/>
                <a:ea typeface="+mj-ea"/>
                <a:cs typeface="+mj-cs"/>
              </a:defRPr>
            </a:lvl1pPr>
          </a:lstStyle>
          <a:p>
            <a:pPr marL="12700">
              <a:spcBef>
                <a:spcPts val="105"/>
              </a:spcBef>
            </a:pPr>
            <a:r>
              <a:rPr lang="en-US" sz="5550" kern="0" spc="-440" dirty="0" smtClean="0">
                <a:solidFill>
                  <a:srgbClr val="081A9A"/>
                </a:solidFill>
              </a:rPr>
              <a:t>Architecture</a:t>
            </a:r>
            <a:endParaRPr lang="en-US" sz="5550" kern="0" dirty="0">
              <a:solidFill>
                <a:sysClr val="windowText" lastClr="000000"/>
              </a:solidFill>
            </a:endParaRPr>
          </a:p>
        </p:txBody>
      </p:sp>
      <p:pic>
        <p:nvPicPr>
          <p:cNvPr id="4" name="Picture 3"/>
          <p:cNvPicPr>
            <a:picLocks noChangeAspect="1"/>
          </p:cNvPicPr>
          <p:nvPr/>
        </p:nvPicPr>
        <p:blipFill>
          <a:blip r:embed="rId3"/>
          <a:stretch>
            <a:fillRect/>
          </a:stretch>
        </p:blipFill>
        <p:spPr>
          <a:xfrm>
            <a:off x="14027727" y="9161001"/>
            <a:ext cx="4267200" cy="11156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762000" y="2095500"/>
            <a:ext cx="16916400" cy="5509200"/>
          </a:xfrm>
          <a:prstGeom prst="rect">
            <a:avLst/>
          </a:prstGeom>
        </p:spPr>
        <p:txBody>
          <a:bodyPr wrap="square">
            <a:spAutoFit/>
          </a:bodyPr>
          <a:lstStyle/>
          <a:p>
            <a:r>
              <a:rPr lang="en-US" sz="3200" b="1" u="sng" dirty="0" smtClean="0">
                <a:latin typeface="Times New Roman" panose="02020603050405020304" pitchFamily="18" charset="0"/>
                <a:cs typeface="Times New Roman" panose="02020603050405020304" pitchFamily="18" charset="0"/>
              </a:rPr>
              <a:t>APPLICATION 1 :</a:t>
            </a:r>
          </a:p>
          <a:p>
            <a:endParaRPr lang="en-US" sz="3200" dirty="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rPr>
              <a:t>How does your hub-and-spoke logistics model optimize delivery efficiency, and what are the total trips traveled by each truck to meet the delivery requirements?</a:t>
            </a:r>
          </a:p>
          <a:p>
            <a:endParaRPr lang="en-US" sz="3200" dirty="0">
              <a:latin typeface="Times New Roman" panose="02020603050405020304" pitchFamily="18" charset="0"/>
              <a:cs typeface="Times New Roman" panose="02020603050405020304" pitchFamily="18" charset="0"/>
            </a:endParaRPr>
          </a:p>
          <a:p>
            <a:endParaRPr lang="en-US" sz="3200" dirty="0" smtClean="0">
              <a:latin typeface="Times New Roman" panose="02020603050405020304" pitchFamily="18" charset="0"/>
              <a:cs typeface="Times New Roman" panose="02020603050405020304" pitchFamily="18" charset="0"/>
            </a:endParaRPr>
          </a:p>
          <a:p>
            <a:r>
              <a:rPr lang="en-US" sz="3200" b="1" u="sng" dirty="0" smtClean="0">
                <a:latin typeface="Times New Roman" panose="02020603050405020304" pitchFamily="18" charset="0"/>
                <a:cs typeface="Times New Roman" panose="02020603050405020304" pitchFamily="18" charset="0"/>
              </a:rPr>
              <a:t>APPLICATION 2 :</a:t>
            </a:r>
          </a:p>
          <a:p>
            <a:endParaRPr lang="en-US"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D</a:t>
            </a:r>
            <a:r>
              <a:rPr lang="en-US" sz="3200" dirty="0" smtClean="0">
                <a:latin typeface="Times New Roman" panose="02020603050405020304" pitchFamily="18" charset="0"/>
                <a:cs typeface="Times New Roman" panose="02020603050405020304" pitchFamily="18" charset="0"/>
              </a:rPr>
              <a:t>etermine how many boxes can be loaded into a Tata Ace truck. Each box has dimensions of 16 inches by 16 inches by 16 inches. The truck's loading space measures 149.6 inches in length, 59.1 inches in width, and 73.2 inches in height.</a:t>
            </a:r>
            <a:endParaRPr lang="en-US" sz="3200"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3792200" y="9029700"/>
            <a:ext cx="4372585" cy="1143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5404" y="1454373"/>
            <a:ext cx="3209924" cy="3209924"/>
          </a:xfrm>
          <a:prstGeom prst="rect">
            <a:avLst/>
          </a:prstGeom>
        </p:spPr>
      </p:pic>
      <p:pic>
        <p:nvPicPr>
          <p:cNvPr id="3" name="object 3"/>
          <p:cNvPicPr/>
          <p:nvPr/>
        </p:nvPicPr>
        <p:blipFill>
          <a:blip r:embed="rId3" cstate="print"/>
          <a:stretch>
            <a:fillRect/>
          </a:stretch>
        </p:blipFill>
        <p:spPr>
          <a:xfrm>
            <a:off x="4141423" y="1454373"/>
            <a:ext cx="3209924" cy="3209924"/>
          </a:xfrm>
          <a:prstGeom prst="rect">
            <a:avLst/>
          </a:prstGeom>
        </p:spPr>
      </p:pic>
      <p:pic>
        <p:nvPicPr>
          <p:cNvPr id="4" name="object 4"/>
          <p:cNvPicPr/>
          <p:nvPr/>
        </p:nvPicPr>
        <p:blipFill>
          <a:blip r:embed="rId3" cstate="print"/>
          <a:stretch>
            <a:fillRect/>
          </a:stretch>
        </p:blipFill>
        <p:spPr>
          <a:xfrm>
            <a:off x="11406325" y="1519407"/>
            <a:ext cx="3143249" cy="3143249"/>
          </a:xfrm>
          <a:prstGeom prst="rect">
            <a:avLst/>
          </a:prstGeom>
        </p:spPr>
      </p:pic>
      <p:pic>
        <p:nvPicPr>
          <p:cNvPr id="5" name="object 5"/>
          <p:cNvPicPr/>
          <p:nvPr/>
        </p:nvPicPr>
        <p:blipFill>
          <a:blip r:embed="rId3" cstate="print"/>
          <a:stretch>
            <a:fillRect/>
          </a:stretch>
        </p:blipFill>
        <p:spPr>
          <a:xfrm>
            <a:off x="15080367" y="1519407"/>
            <a:ext cx="3143249" cy="3143249"/>
          </a:xfrm>
          <a:prstGeom prst="rect">
            <a:avLst/>
          </a:prstGeom>
        </p:spPr>
      </p:pic>
      <p:pic>
        <p:nvPicPr>
          <p:cNvPr id="6" name="object 6"/>
          <p:cNvPicPr/>
          <p:nvPr/>
        </p:nvPicPr>
        <p:blipFill>
          <a:blip r:embed="rId2" cstate="print"/>
          <a:stretch>
            <a:fillRect/>
          </a:stretch>
        </p:blipFill>
        <p:spPr>
          <a:xfrm>
            <a:off x="7690742" y="1584440"/>
            <a:ext cx="3076574" cy="3076574"/>
          </a:xfrm>
          <a:prstGeom prst="rect">
            <a:avLst/>
          </a:prstGeom>
        </p:spPr>
      </p:pic>
      <p:sp>
        <p:nvSpPr>
          <p:cNvPr id="7" name="object 7"/>
          <p:cNvSpPr txBox="1"/>
          <p:nvPr/>
        </p:nvSpPr>
        <p:spPr>
          <a:xfrm>
            <a:off x="701571" y="4918568"/>
            <a:ext cx="2738755" cy="609600"/>
          </a:xfrm>
          <a:prstGeom prst="rect">
            <a:avLst/>
          </a:prstGeom>
        </p:spPr>
        <p:txBody>
          <a:bodyPr vert="horz" wrap="square" lIns="0" tIns="16510" rIns="0" bIns="0" rtlCol="0">
            <a:spAutoFit/>
          </a:bodyPr>
          <a:lstStyle/>
          <a:p>
            <a:pPr marL="12700">
              <a:lnSpc>
                <a:spcPct val="100000"/>
              </a:lnSpc>
              <a:spcBef>
                <a:spcPts val="130"/>
              </a:spcBef>
            </a:pPr>
            <a:r>
              <a:rPr sz="3800" b="1" spc="-70" dirty="0">
                <a:latin typeface="Verdana"/>
                <a:cs typeface="Verdana"/>
              </a:rPr>
              <a:t>M</a:t>
            </a:r>
            <a:r>
              <a:rPr sz="3800" b="1" spc="-395" dirty="0">
                <a:latin typeface="Verdana"/>
                <a:cs typeface="Verdana"/>
              </a:rPr>
              <a:t> </a:t>
            </a:r>
            <a:r>
              <a:rPr sz="3800" b="1" spc="-355" dirty="0">
                <a:latin typeface="Verdana"/>
                <a:cs typeface="Verdana"/>
              </a:rPr>
              <a:t>S</a:t>
            </a:r>
            <a:r>
              <a:rPr sz="3800" b="1" spc="-325" dirty="0">
                <a:latin typeface="Verdana"/>
                <a:cs typeface="Verdana"/>
              </a:rPr>
              <a:t>u</a:t>
            </a:r>
            <a:r>
              <a:rPr sz="3800" b="1" spc="-455" dirty="0">
                <a:latin typeface="Verdana"/>
                <a:cs typeface="Verdana"/>
              </a:rPr>
              <a:t>m</a:t>
            </a:r>
            <a:r>
              <a:rPr sz="3800" b="1" spc="-370" dirty="0">
                <a:latin typeface="Verdana"/>
                <a:cs typeface="Verdana"/>
              </a:rPr>
              <a:t>a</a:t>
            </a:r>
            <a:r>
              <a:rPr sz="3800" b="1" spc="-295" dirty="0">
                <a:latin typeface="Verdana"/>
                <a:cs typeface="Verdana"/>
              </a:rPr>
              <a:t>n</a:t>
            </a:r>
            <a:r>
              <a:rPr sz="3800" b="1" spc="-130" dirty="0">
                <a:latin typeface="Verdana"/>
                <a:cs typeface="Verdana"/>
              </a:rPr>
              <a:t>t</a:t>
            </a:r>
            <a:r>
              <a:rPr sz="3800" b="1" spc="-290" dirty="0">
                <a:latin typeface="Verdana"/>
                <a:cs typeface="Verdana"/>
              </a:rPr>
              <a:t>h</a:t>
            </a:r>
            <a:endParaRPr sz="3800">
              <a:latin typeface="Verdana"/>
              <a:cs typeface="Verdana"/>
            </a:endParaRPr>
          </a:p>
        </p:txBody>
      </p:sp>
      <p:sp>
        <p:nvSpPr>
          <p:cNvPr id="8" name="object 8"/>
          <p:cNvSpPr txBox="1">
            <a:spLocks noGrp="1"/>
          </p:cNvSpPr>
          <p:nvPr>
            <p:ph type="title"/>
          </p:nvPr>
        </p:nvSpPr>
        <p:spPr>
          <a:xfrm>
            <a:off x="15210963" y="4832525"/>
            <a:ext cx="2813685" cy="609600"/>
          </a:xfrm>
          <a:prstGeom prst="rect">
            <a:avLst/>
          </a:prstGeom>
        </p:spPr>
        <p:txBody>
          <a:bodyPr vert="horz" wrap="square" lIns="0" tIns="16510" rIns="0" bIns="0" rtlCol="0">
            <a:spAutoFit/>
          </a:bodyPr>
          <a:lstStyle/>
          <a:p>
            <a:pPr marL="12700">
              <a:lnSpc>
                <a:spcPct val="100000"/>
              </a:lnSpc>
              <a:spcBef>
                <a:spcPts val="130"/>
              </a:spcBef>
            </a:pPr>
            <a:r>
              <a:rPr sz="3800" spc="-229" dirty="0"/>
              <a:t>G</a:t>
            </a:r>
            <a:r>
              <a:rPr sz="3800" spc="-395" dirty="0"/>
              <a:t> </a:t>
            </a:r>
            <a:r>
              <a:rPr sz="3800" spc="-290" dirty="0"/>
              <a:t>P</a:t>
            </a:r>
            <a:r>
              <a:rPr sz="3800" spc="-215" dirty="0"/>
              <a:t>oo</a:t>
            </a:r>
            <a:r>
              <a:rPr sz="3800" spc="-275" dirty="0"/>
              <a:t>r</a:t>
            </a:r>
            <a:r>
              <a:rPr sz="3800" spc="-295" dirty="0"/>
              <a:t>n</a:t>
            </a:r>
            <a:r>
              <a:rPr sz="3800" spc="-190" dirty="0"/>
              <a:t>i</a:t>
            </a:r>
            <a:r>
              <a:rPr sz="3800" spc="-455" dirty="0"/>
              <a:t>m</a:t>
            </a:r>
            <a:r>
              <a:rPr sz="3800" spc="-365" dirty="0"/>
              <a:t>a</a:t>
            </a:r>
            <a:endParaRPr sz="3800"/>
          </a:p>
        </p:txBody>
      </p:sp>
      <p:sp>
        <p:nvSpPr>
          <p:cNvPr id="9" name="object 9"/>
          <p:cNvSpPr txBox="1"/>
          <p:nvPr/>
        </p:nvSpPr>
        <p:spPr>
          <a:xfrm>
            <a:off x="12102712" y="4861100"/>
            <a:ext cx="1871345" cy="609600"/>
          </a:xfrm>
          <a:prstGeom prst="rect">
            <a:avLst/>
          </a:prstGeom>
        </p:spPr>
        <p:txBody>
          <a:bodyPr vert="horz" wrap="square" lIns="0" tIns="16510" rIns="0" bIns="0" rtlCol="0">
            <a:spAutoFit/>
          </a:bodyPr>
          <a:lstStyle/>
          <a:p>
            <a:pPr marL="12700">
              <a:lnSpc>
                <a:spcPct val="100000"/>
              </a:lnSpc>
              <a:spcBef>
                <a:spcPts val="130"/>
              </a:spcBef>
            </a:pPr>
            <a:r>
              <a:rPr sz="3800" b="1" spc="-220" dirty="0">
                <a:latin typeface="Verdana"/>
                <a:cs typeface="Verdana"/>
              </a:rPr>
              <a:t>B</a:t>
            </a:r>
            <a:r>
              <a:rPr sz="3800" b="1" spc="-395" dirty="0">
                <a:latin typeface="Verdana"/>
                <a:cs typeface="Verdana"/>
              </a:rPr>
              <a:t> </a:t>
            </a:r>
            <a:r>
              <a:rPr sz="3800" b="1" spc="-825" dirty="0">
                <a:latin typeface="Verdana"/>
                <a:cs typeface="Verdana"/>
              </a:rPr>
              <a:t>I</a:t>
            </a:r>
            <a:r>
              <a:rPr sz="3800" b="1" spc="-295" dirty="0">
                <a:latin typeface="Verdana"/>
                <a:cs typeface="Verdana"/>
              </a:rPr>
              <a:t>n</a:t>
            </a:r>
            <a:r>
              <a:rPr sz="3800" b="1" spc="-190" dirty="0">
                <a:latin typeface="Verdana"/>
                <a:cs typeface="Verdana"/>
              </a:rPr>
              <a:t>d</a:t>
            </a:r>
            <a:r>
              <a:rPr sz="3800" b="1" spc="-295" dirty="0">
                <a:latin typeface="Verdana"/>
                <a:cs typeface="Verdana"/>
              </a:rPr>
              <a:t>h</a:t>
            </a:r>
            <a:r>
              <a:rPr sz="3800" b="1" spc="-320" dirty="0">
                <a:latin typeface="Verdana"/>
                <a:cs typeface="Verdana"/>
              </a:rPr>
              <a:t>u</a:t>
            </a:r>
            <a:endParaRPr sz="3800">
              <a:latin typeface="Verdana"/>
              <a:cs typeface="Verdana"/>
            </a:endParaRPr>
          </a:p>
        </p:txBody>
      </p:sp>
      <p:sp>
        <p:nvSpPr>
          <p:cNvPr id="10" name="object 10"/>
          <p:cNvSpPr txBox="1"/>
          <p:nvPr/>
        </p:nvSpPr>
        <p:spPr>
          <a:xfrm>
            <a:off x="7847290" y="4918568"/>
            <a:ext cx="2881630" cy="609600"/>
          </a:xfrm>
          <a:prstGeom prst="rect">
            <a:avLst/>
          </a:prstGeom>
        </p:spPr>
        <p:txBody>
          <a:bodyPr vert="horz" wrap="square" lIns="0" tIns="16510" rIns="0" bIns="0" rtlCol="0">
            <a:spAutoFit/>
          </a:bodyPr>
          <a:lstStyle/>
          <a:p>
            <a:pPr marL="12700">
              <a:lnSpc>
                <a:spcPct val="100000"/>
              </a:lnSpc>
              <a:spcBef>
                <a:spcPts val="130"/>
              </a:spcBef>
            </a:pPr>
            <a:r>
              <a:rPr sz="3800" b="1" spc="-350" dirty="0">
                <a:latin typeface="Verdana"/>
                <a:cs typeface="Verdana"/>
              </a:rPr>
              <a:t>S</a:t>
            </a:r>
            <a:r>
              <a:rPr sz="3800" b="1" spc="-395" dirty="0">
                <a:latin typeface="Verdana"/>
                <a:cs typeface="Verdana"/>
              </a:rPr>
              <a:t> </a:t>
            </a:r>
            <a:r>
              <a:rPr sz="3800" b="1" spc="-290" dirty="0">
                <a:latin typeface="Verdana"/>
                <a:cs typeface="Verdana"/>
              </a:rPr>
              <a:t>P</a:t>
            </a:r>
            <a:r>
              <a:rPr sz="3800" b="1" spc="-270" dirty="0">
                <a:latin typeface="Verdana"/>
                <a:cs typeface="Verdana"/>
              </a:rPr>
              <a:t>r</a:t>
            </a:r>
            <a:r>
              <a:rPr sz="3800" b="1" spc="-370" dirty="0">
                <a:latin typeface="Verdana"/>
                <a:cs typeface="Verdana"/>
              </a:rPr>
              <a:t>a</a:t>
            </a:r>
            <a:r>
              <a:rPr sz="3800" b="1" spc="-360" dirty="0">
                <a:latin typeface="Verdana"/>
                <a:cs typeface="Verdana"/>
              </a:rPr>
              <a:t>s</a:t>
            </a:r>
            <a:r>
              <a:rPr sz="3800" b="1" spc="-295" dirty="0">
                <a:latin typeface="Verdana"/>
                <a:cs typeface="Verdana"/>
              </a:rPr>
              <a:t>h</a:t>
            </a:r>
            <a:r>
              <a:rPr sz="3800" b="1" spc="-370" dirty="0">
                <a:latin typeface="Verdana"/>
                <a:cs typeface="Verdana"/>
              </a:rPr>
              <a:t>a</a:t>
            </a:r>
            <a:r>
              <a:rPr sz="3800" b="1" spc="-295" dirty="0">
                <a:latin typeface="Verdana"/>
                <a:cs typeface="Verdana"/>
              </a:rPr>
              <a:t>n</a:t>
            </a:r>
            <a:r>
              <a:rPr sz="3800" b="1" spc="-130" dirty="0">
                <a:latin typeface="Verdana"/>
                <a:cs typeface="Verdana"/>
              </a:rPr>
              <a:t>t</a:t>
            </a:r>
            <a:r>
              <a:rPr sz="3800" b="1" spc="-290" dirty="0">
                <a:latin typeface="Verdana"/>
                <a:cs typeface="Verdana"/>
              </a:rPr>
              <a:t>h</a:t>
            </a:r>
            <a:endParaRPr sz="3800">
              <a:latin typeface="Verdana"/>
              <a:cs typeface="Verdana"/>
            </a:endParaRPr>
          </a:p>
        </p:txBody>
      </p:sp>
      <p:sp>
        <p:nvSpPr>
          <p:cNvPr id="11" name="object 11"/>
          <p:cNvSpPr txBox="1"/>
          <p:nvPr/>
        </p:nvSpPr>
        <p:spPr>
          <a:xfrm>
            <a:off x="4455793" y="4918568"/>
            <a:ext cx="2577465" cy="609600"/>
          </a:xfrm>
          <a:prstGeom prst="rect">
            <a:avLst/>
          </a:prstGeom>
        </p:spPr>
        <p:txBody>
          <a:bodyPr vert="horz" wrap="square" lIns="0" tIns="16510" rIns="0" bIns="0" rtlCol="0">
            <a:spAutoFit/>
          </a:bodyPr>
          <a:lstStyle/>
          <a:p>
            <a:pPr marL="12700">
              <a:lnSpc>
                <a:spcPct val="100000"/>
              </a:lnSpc>
              <a:spcBef>
                <a:spcPts val="130"/>
              </a:spcBef>
            </a:pPr>
            <a:r>
              <a:rPr sz="3800" b="1" spc="-229" dirty="0">
                <a:latin typeface="Verdana"/>
                <a:cs typeface="Verdana"/>
              </a:rPr>
              <a:t>D</a:t>
            </a:r>
            <a:r>
              <a:rPr sz="3800" b="1" spc="-395" dirty="0">
                <a:latin typeface="Verdana"/>
                <a:cs typeface="Verdana"/>
              </a:rPr>
              <a:t> </a:t>
            </a:r>
            <a:r>
              <a:rPr sz="3800" b="1" spc="-225" dirty="0">
                <a:latin typeface="Verdana"/>
                <a:cs typeface="Verdana"/>
              </a:rPr>
              <a:t>B</a:t>
            </a:r>
            <a:r>
              <a:rPr sz="3800" b="1" spc="-295" dirty="0">
                <a:latin typeface="Verdana"/>
                <a:cs typeface="Verdana"/>
              </a:rPr>
              <a:t>h</a:t>
            </a:r>
            <a:r>
              <a:rPr sz="3800" b="1" spc="-370" dirty="0">
                <a:latin typeface="Verdana"/>
                <a:cs typeface="Verdana"/>
              </a:rPr>
              <a:t>a</a:t>
            </a:r>
            <a:r>
              <a:rPr sz="3800" b="1" spc="-254" dirty="0">
                <a:latin typeface="Verdana"/>
                <a:cs typeface="Verdana"/>
              </a:rPr>
              <a:t>v</a:t>
            </a:r>
            <a:r>
              <a:rPr sz="3800" b="1" spc="-370" dirty="0">
                <a:latin typeface="Verdana"/>
                <a:cs typeface="Verdana"/>
              </a:rPr>
              <a:t>a</a:t>
            </a:r>
            <a:r>
              <a:rPr sz="3800" b="1" spc="-295" dirty="0">
                <a:latin typeface="Verdana"/>
                <a:cs typeface="Verdana"/>
              </a:rPr>
              <a:t>n</a:t>
            </a:r>
            <a:r>
              <a:rPr sz="3800" b="1" spc="-365" dirty="0">
                <a:latin typeface="Verdana"/>
                <a:cs typeface="Verdana"/>
              </a:rPr>
              <a:t>a</a:t>
            </a:r>
            <a:endParaRPr sz="3800">
              <a:latin typeface="Verdana"/>
              <a:cs typeface="Verdana"/>
            </a:endParaRPr>
          </a:p>
        </p:txBody>
      </p:sp>
      <p:pic>
        <p:nvPicPr>
          <p:cNvPr id="12" name="Picture 11"/>
          <p:cNvPicPr>
            <a:picLocks noChangeAspect="1"/>
          </p:cNvPicPr>
          <p:nvPr/>
        </p:nvPicPr>
        <p:blipFill>
          <a:blip r:embed="rId4"/>
          <a:stretch>
            <a:fillRect/>
          </a:stretch>
        </p:blipFill>
        <p:spPr>
          <a:xfrm>
            <a:off x="13851031" y="9143840"/>
            <a:ext cx="4372585" cy="1143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2057400" y="1181100"/>
            <a:ext cx="14935200" cy="82984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TotalTime>
  <Words>328</Words>
  <Application>Microsoft Office PowerPoint</Application>
  <PresentationFormat>Custom</PresentationFormat>
  <Paragraphs>39</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Lucida Sans Unicode</vt:lpstr>
      <vt:lpstr>Tahoma</vt:lpstr>
      <vt:lpstr>Times New Roman</vt:lpstr>
      <vt:lpstr>Trebuchet MS</vt:lpstr>
      <vt:lpstr>Verdana</vt:lpstr>
      <vt:lpstr>Office Theme</vt:lpstr>
      <vt:lpstr>BiGeo Logistics and Supply Chain  using AI and I OT</vt:lpstr>
      <vt:lpstr>Problem Statement</vt:lpstr>
      <vt:lpstr>Stakeholders</vt:lpstr>
      <vt:lpstr>Present Scenario</vt:lpstr>
      <vt:lpstr>Proposed Solution</vt:lpstr>
      <vt:lpstr>Features</vt:lpstr>
      <vt:lpstr>PowerPoint Presentation</vt:lpstr>
      <vt:lpstr>PowerPoint Presentation</vt:lpstr>
      <vt:lpstr>G Poornima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Add a heading</dc:title>
  <dc:creator>Basangari Indhu Reddy</dc:creator>
  <cp:keywords>DAGP0RDGF9U,BAGP0dwo7Vc</cp:keywords>
  <cp:lastModifiedBy>User</cp:lastModifiedBy>
  <cp:revision>4</cp:revision>
  <dcterms:created xsi:type="dcterms:W3CDTF">2024-09-09T07:17:54Z</dcterms:created>
  <dcterms:modified xsi:type="dcterms:W3CDTF">2024-09-09T07:39:44Z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2024-09-05T00:00:00Z</vt:filetime>
  </property>
  <property fmtid="{D5CDD505-2E9C-101B-9397-08002B2CF9AE}" pid="3" name="Creator">
    <vt:lpwstr>Canva</vt:lpwstr>
  </property>
  <property fmtid="{D5CDD505-2E9C-101B-9397-08002B2CF9AE}" pid="4" name="LastSaved">
    <vt:filetime>2024-09-09T00:00:00Z</vt:filetime>
  </property>
</Properties>
</file>